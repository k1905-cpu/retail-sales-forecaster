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g5KATVTjbbtx4eoCOkZWmMHSUJL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47A09E-7693-4649-A69F-71BC44884BB5}" v="1" dt="2026-10-22T08:29:35.583"/>
  </p1510:revLst>
</p1510:revInfo>
</file>

<file path=ppt/tableStyles.xml><?xml version="1.0" encoding="utf-8"?>
<a:tblStyleLst xmlns:a="http://schemas.openxmlformats.org/drawingml/2006/main" def="{96624263-CD6E-4E3E-AAE7-B132611AEFAC}">
  <a:tblStyle styleId="{96624263-CD6E-4E3E-AAE7-B132611AEFA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p Shah" userId="29358f6137912a0c" providerId="LiveId" clId="{AA27BB2B-67A3-4D9A-8B58-A75FEA2CD89C}"/>
    <pc:docChg chg="undo custSel modSld">
      <pc:chgData name="Kalp Shah" userId="29358f6137912a0c" providerId="LiveId" clId="{AA27BB2B-67A3-4D9A-8B58-A75FEA2CD89C}" dt="2026-10-22T08:30:10.504" v="45" actId="20577"/>
      <pc:docMkLst>
        <pc:docMk/>
      </pc:docMkLst>
      <pc:sldChg chg="addSp delSp modSp mod">
        <pc:chgData name="Kalp Shah" userId="29358f6137912a0c" providerId="LiveId" clId="{AA27BB2B-67A3-4D9A-8B58-A75FEA2CD89C}" dt="2026-10-22T08:30:10.504" v="45" actId="20577"/>
        <pc:sldMkLst>
          <pc:docMk/>
          <pc:sldMk cId="0" sldId="256"/>
        </pc:sldMkLst>
        <pc:spChg chg="add del mod">
          <ac:chgData name="Kalp Shah" userId="29358f6137912a0c" providerId="LiveId" clId="{AA27BB2B-67A3-4D9A-8B58-A75FEA2CD89C}" dt="2026-10-22T08:28:23.898" v="11" actId="22"/>
          <ac:spMkLst>
            <pc:docMk/>
            <pc:sldMk cId="0" sldId="256"/>
            <ac:spMk id="3" creationId="{A95E9824-C3DD-D4D0-CBD9-89BEF1C0B49F}"/>
          </ac:spMkLst>
        </pc:spChg>
        <pc:spChg chg="add mod">
          <ac:chgData name="Kalp Shah" userId="29358f6137912a0c" providerId="LiveId" clId="{AA27BB2B-67A3-4D9A-8B58-A75FEA2CD89C}" dt="2026-10-22T08:30:10.504" v="45" actId="20577"/>
          <ac:spMkLst>
            <pc:docMk/>
            <pc:sldMk cId="0" sldId="256"/>
            <ac:spMk id="4" creationId="{7569834C-4D38-682D-D557-1B8FB22F8232}"/>
          </ac:spMkLst>
        </pc:spChg>
        <pc:spChg chg="mod">
          <ac:chgData name="Kalp Shah" userId="29358f6137912a0c" providerId="LiveId" clId="{AA27BB2B-67A3-4D9A-8B58-A75FEA2CD89C}" dt="2026-10-22T08:29:51.169" v="19" actId="20577"/>
          <ac:spMkLst>
            <pc:docMk/>
            <pc:sldMk cId="0" sldId="256"/>
            <ac:spMk id="19" creationId="{00000000-0000-0000-0000-000000000000}"/>
          </ac:spMkLst>
        </pc:spChg>
        <pc:spChg chg="mod">
          <ac:chgData name="Kalp Shah" userId="29358f6137912a0c" providerId="LiveId" clId="{AA27BB2B-67A3-4D9A-8B58-A75FEA2CD89C}" dt="2026-10-22T08:27:39.704" v="5" actId="1076"/>
          <ac:spMkLst>
            <pc:docMk/>
            <pc:sldMk cId="0" sldId="256"/>
            <ac:spMk id="2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t>R² score (higher is better)</a:t>
            </a:r>
          </a:p>
        </c:rich>
      </c:tx>
      <c:overlay val="0"/>
    </c:title>
    <c:autoTitleDeleted val="0"/>
    <c:plotArea>
      <c:layout/>
      <c:barChart>
        <c:barDir val="col"/>
        <c:grouping val="clustered"/>
        <c:varyColors val="0"/>
        <c:ser>
          <c:idx val="0"/>
          <c:order val="0"/>
          <c:tx>
            <c:strRef>
              <c:f>Sheet1!$B$1</c:f>
              <c:strCache>
                <c:ptCount val="1"/>
                <c:pt idx="0">
                  <c:v>Test R²</c:v>
                </c:pt>
              </c:strCache>
            </c:strRef>
          </c:tx>
          <c:spPr>
            <a:solidFill>
              <a:srgbClr val="14213D"/>
            </a:solidFill>
            <a:effectLst/>
          </c:spPr>
          <c:invertIfNegative val="0"/>
          <c:dLbls>
            <c:numFmt formatCode="0.00" sourceLinked="0"/>
            <c:spPr>
              <a:noFill/>
              <a:ln>
                <a:noFill/>
              </a:ln>
              <a:effectLst/>
            </c:spPr>
            <c:txPr>
              <a:bodyPr/>
              <a:lstStyle/>
              <a:p>
                <a:pPr>
                  <a:defRPr sz="1200" b="0" i="0" u="none" strike="noStrike">
                    <a:solidFill>
                      <a:srgbClr val="1E2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Decision Tree</c:v>
                </c:pt>
                <c:pt idx="2">
                  <c:v>Random Forest</c:v>
                </c:pt>
              </c:strCache>
            </c:strRef>
          </c:cat>
          <c:val>
            <c:numRef>
              <c:f>Sheet1!$B$2:$B$4</c:f>
              <c:numCache>
                <c:formatCode>General</c:formatCode>
                <c:ptCount val="3"/>
                <c:pt idx="0">
                  <c:v>0.99399999999999999</c:v>
                </c:pt>
                <c:pt idx="1">
                  <c:v>0.98799999999999999</c:v>
                </c:pt>
                <c:pt idx="2">
                  <c:v>0.99399999999999999</c:v>
                </c:pt>
              </c:numCache>
            </c:numRef>
          </c:val>
          <c:extLst>
            <c:ext xmlns:c16="http://schemas.microsoft.com/office/drawing/2014/chart" uri="{C3380CC4-5D6E-409C-BE32-E72D297353CC}">
              <c16:uniqueId val="{00000000-0440-4A31-955C-A1033CB2312E}"/>
            </c:ext>
          </c:extLst>
        </c:ser>
        <c:ser>
          <c:idx val="1"/>
          <c:order val="1"/>
          <c:tx>
            <c:strRef>
              <c:f>Sheet1!$C$1</c:f>
              <c:strCache>
                <c:ptCount val="1"/>
                <c:pt idx="0">
                  <c:v>5-fold CV R²</c:v>
                </c:pt>
              </c:strCache>
            </c:strRef>
          </c:tx>
          <c:spPr>
            <a:solidFill>
              <a:srgbClr val="FCA311"/>
            </a:solidFill>
            <a:effectLst/>
          </c:spPr>
          <c:invertIfNegative val="0"/>
          <c:dLbls>
            <c:numFmt formatCode="0.00" sourceLinked="0"/>
            <c:spPr>
              <a:noFill/>
              <a:ln>
                <a:noFill/>
              </a:ln>
              <a:effectLst/>
            </c:spPr>
            <c:txPr>
              <a:bodyPr/>
              <a:lstStyle/>
              <a:p>
                <a:pPr>
                  <a:defRPr sz="1200" b="0" i="0" u="none" strike="noStrike">
                    <a:solidFill>
                      <a:srgbClr val="1E2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Decision Tree</c:v>
                </c:pt>
                <c:pt idx="2">
                  <c:v>Random Forest</c:v>
                </c:pt>
              </c:strCache>
            </c:strRef>
          </c:cat>
          <c:val>
            <c:numRef>
              <c:f>Sheet1!$C$2:$C$4</c:f>
              <c:numCache>
                <c:formatCode>General</c:formatCode>
                <c:ptCount val="3"/>
                <c:pt idx="0">
                  <c:v>0.99399999999999999</c:v>
                </c:pt>
                <c:pt idx="1">
                  <c:v>0.98799999999999999</c:v>
                </c:pt>
                <c:pt idx="2">
                  <c:v>0.99399999999999999</c:v>
                </c:pt>
              </c:numCache>
            </c:numRef>
          </c:val>
          <c:extLst>
            <c:ext xmlns:c16="http://schemas.microsoft.com/office/drawing/2014/chart" uri="{C3380CC4-5D6E-409C-BE32-E72D297353CC}">
              <c16:uniqueId val="{00000001-0440-4A31-955C-A1033CB231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29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t>Random Forest feature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4213D"/>
            </a:solidFill>
            <a:effectLst/>
          </c:spPr>
          <c:invertIfNegative val="0"/>
          <c:dLbls>
            <c:numFmt formatCode="0.0%" sourceLinked="0"/>
            <c:spPr>
              <a:noFill/>
              <a:ln>
                <a:noFill/>
              </a:ln>
              <a:effectLst/>
            </c:spPr>
            <c:txPr>
              <a:bodyPr/>
              <a:lstStyle/>
              <a:p>
                <a:pPr>
                  <a:defRPr sz="1200" b="0" i="0" u="none" strike="noStrike">
                    <a:solidFill>
                      <a:srgbClr val="1E2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Date_month</c:v>
                </c:pt>
                <c:pt idx="1">
                  <c:v>Competitor Pricing</c:v>
                </c:pt>
                <c:pt idx="2">
                  <c:v>Price</c:v>
                </c:pt>
                <c:pt idx="3">
                  <c:v>Date_day</c:v>
                </c:pt>
                <c:pt idx="4">
                  <c:v>Units Ordered</c:v>
                </c:pt>
                <c:pt idx="5">
                  <c:v>Inventory Level</c:v>
                </c:pt>
                <c:pt idx="6">
                  <c:v>Demand Forecast</c:v>
                </c:pt>
              </c:strCache>
            </c:strRef>
          </c:cat>
          <c:val>
            <c:numRef>
              <c:f>Sheet1!$B$2:$B$8</c:f>
              <c:numCache>
                <c:formatCode>General</c:formatCode>
                <c:ptCount val="7"/>
                <c:pt idx="0">
                  <c:v>3.6000000000000002E-4</c:v>
                </c:pt>
                <c:pt idx="1">
                  <c:v>4.6999999999999999E-4</c:v>
                </c:pt>
                <c:pt idx="2">
                  <c:v>4.8000000000000001E-4</c:v>
                </c:pt>
                <c:pt idx="3">
                  <c:v>4.8000000000000001E-4</c:v>
                </c:pt>
                <c:pt idx="4">
                  <c:v>6.0999999999999997E-4</c:v>
                </c:pt>
                <c:pt idx="5">
                  <c:v>8.4999999999999995E-4</c:v>
                </c:pt>
                <c:pt idx="6">
                  <c:v>0.99467000000000005</c:v>
                </c:pt>
              </c:numCache>
            </c:numRef>
          </c:val>
          <c:extLst>
            <c:ext xmlns:c16="http://schemas.microsoft.com/office/drawing/2014/chart" uri="{C3380CC4-5D6E-409C-BE32-E72D297353CC}">
              <c16:uniqueId val="{00000000-B012-4DEF-9EED-20AEDFC60940}"/>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t"/>
        <c:majorGridlines>
          <c:spPr>
            <a:ln w="6350"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 name="Google Shape;1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 name="Google Shape;24;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 name="Google Shape;25;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4" name="Google Shape;64;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6" name="Google Shape;106;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36" name="Google Shape;136;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1" name="Google Shape;16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2" name="Google Shape;202;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1" name="Google Shape;221;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7" name="Google Shape;237;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7" name="Google Shape;257;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8" name="Google Shape;298;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2" name="Google Shape;312;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9" name="Google Shape;32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0" name="Google Shape;33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2" name="Google Shape;342;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7"/>
        <p:cNvGrpSpPr/>
        <p:nvPr/>
      </p:nvGrpSpPr>
      <p:grpSpPr>
        <a:xfrm>
          <a:off x="0" y="0"/>
          <a:ext cx="0" cy="0"/>
          <a:chOff x="0" y="0"/>
          <a:chExt cx="0" cy="0"/>
        </a:xfrm>
      </p:grpSpPr>
      <p:sp>
        <p:nvSpPr>
          <p:cNvPr id="8" name="Google Shape;8;p16"/>
          <p:cNvSpPr txBox="1">
            <a:spLocks noGrp="1"/>
          </p:cNvSpPr>
          <p:nvPr>
            <p:ph type="sldNum" idx="12"/>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rgbClr val="64748B"/>
                </a:solidFill>
                <a:latin typeface="Calibri"/>
                <a:ea typeface="Calibri"/>
                <a:cs typeface="Calibri"/>
                <a:sym typeface="Calibri"/>
              </a:defRPr>
            </a:lvl1pPr>
            <a:lvl2pPr marL="0" marR="0" lvl="1" indent="0" algn="r">
              <a:spcBef>
                <a:spcPts val="0"/>
              </a:spcBef>
              <a:buNone/>
              <a:defRPr sz="1000" b="0" i="0" u="none" strike="noStrike" cap="none">
                <a:solidFill>
                  <a:srgbClr val="64748B"/>
                </a:solidFill>
                <a:latin typeface="Calibri"/>
                <a:ea typeface="Calibri"/>
                <a:cs typeface="Calibri"/>
                <a:sym typeface="Calibri"/>
              </a:defRPr>
            </a:lvl2pPr>
            <a:lvl3pPr marL="0" marR="0" lvl="2" indent="0" algn="r">
              <a:spcBef>
                <a:spcPts val="0"/>
              </a:spcBef>
              <a:buNone/>
              <a:defRPr sz="1000" b="0" i="0" u="none" strike="noStrike" cap="none">
                <a:solidFill>
                  <a:srgbClr val="64748B"/>
                </a:solidFill>
                <a:latin typeface="Calibri"/>
                <a:ea typeface="Calibri"/>
                <a:cs typeface="Calibri"/>
                <a:sym typeface="Calibri"/>
              </a:defRPr>
            </a:lvl3pPr>
            <a:lvl4pPr marL="0" marR="0" lvl="3" indent="0" algn="r">
              <a:spcBef>
                <a:spcPts val="0"/>
              </a:spcBef>
              <a:buNone/>
              <a:defRPr sz="1000" b="0" i="0" u="none" strike="noStrike" cap="none">
                <a:solidFill>
                  <a:srgbClr val="64748B"/>
                </a:solidFill>
                <a:latin typeface="Calibri"/>
                <a:ea typeface="Calibri"/>
                <a:cs typeface="Calibri"/>
                <a:sym typeface="Calibri"/>
              </a:defRPr>
            </a:lvl4pPr>
            <a:lvl5pPr marL="0" marR="0" lvl="4" indent="0" algn="r">
              <a:spcBef>
                <a:spcPts val="0"/>
              </a:spcBef>
              <a:buNone/>
              <a:defRPr sz="1000" b="0" i="0" u="none" strike="noStrike" cap="none">
                <a:solidFill>
                  <a:srgbClr val="64748B"/>
                </a:solidFill>
                <a:latin typeface="Calibri"/>
                <a:ea typeface="Calibri"/>
                <a:cs typeface="Calibri"/>
                <a:sym typeface="Calibri"/>
              </a:defRPr>
            </a:lvl5pPr>
            <a:lvl6pPr marL="0" marR="0" lvl="5" indent="0" algn="r">
              <a:spcBef>
                <a:spcPts val="0"/>
              </a:spcBef>
              <a:buNone/>
              <a:defRPr sz="1000" b="0" i="0" u="none" strike="noStrike" cap="none">
                <a:solidFill>
                  <a:srgbClr val="64748B"/>
                </a:solidFill>
                <a:latin typeface="Calibri"/>
                <a:ea typeface="Calibri"/>
                <a:cs typeface="Calibri"/>
                <a:sym typeface="Calibri"/>
              </a:defRPr>
            </a:lvl6pPr>
            <a:lvl7pPr marL="0" marR="0" lvl="6" indent="0" algn="r">
              <a:spcBef>
                <a:spcPts val="0"/>
              </a:spcBef>
              <a:buNone/>
              <a:defRPr sz="1000" b="0" i="0" u="none" strike="noStrike" cap="none">
                <a:solidFill>
                  <a:srgbClr val="64748B"/>
                </a:solidFill>
                <a:latin typeface="Calibri"/>
                <a:ea typeface="Calibri"/>
                <a:cs typeface="Calibri"/>
                <a:sym typeface="Calibri"/>
              </a:defRPr>
            </a:lvl7pPr>
            <a:lvl8pPr marL="0" marR="0" lvl="7" indent="0" algn="r">
              <a:spcBef>
                <a:spcPts val="0"/>
              </a:spcBef>
              <a:buNone/>
              <a:defRPr sz="1000" b="0" i="0" u="none" strike="noStrike" cap="none">
                <a:solidFill>
                  <a:srgbClr val="64748B"/>
                </a:solidFill>
                <a:latin typeface="Calibri"/>
                <a:ea typeface="Calibri"/>
                <a:cs typeface="Calibri"/>
                <a:sym typeface="Calibri"/>
              </a:defRPr>
            </a:lvl8pPr>
            <a:lvl9pPr marL="0" marR="0" lvl="8" indent="0" algn="r">
              <a:spcBef>
                <a:spcPts val="0"/>
              </a:spcBef>
              <a:buNone/>
              <a:defRPr sz="1000" b="0" i="0" u="none" strike="noStrike" cap="none">
                <a:solidFill>
                  <a:srgbClr val="6474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sldNum" idx="12"/>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rgbClr val="64748B"/>
                </a:solidFill>
                <a:latin typeface="Calibri"/>
                <a:ea typeface="Calibri"/>
                <a:cs typeface="Calibri"/>
                <a:sym typeface="Calibri"/>
              </a:defRPr>
            </a:lvl1pPr>
            <a:lvl2pPr marL="0" marR="0" lvl="1" indent="0" algn="r" rtl="0">
              <a:spcBef>
                <a:spcPts val="0"/>
              </a:spcBef>
              <a:buNone/>
              <a:defRPr sz="1000" b="0" i="0" u="none" strike="noStrike" cap="none">
                <a:solidFill>
                  <a:srgbClr val="64748B"/>
                </a:solidFill>
                <a:latin typeface="Calibri"/>
                <a:ea typeface="Calibri"/>
                <a:cs typeface="Calibri"/>
                <a:sym typeface="Calibri"/>
              </a:defRPr>
            </a:lvl2pPr>
            <a:lvl3pPr marL="0" marR="0" lvl="2" indent="0" algn="r" rtl="0">
              <a:spcBef>
                <a:spcPts val="0"/>
              </a:spcBef>
              <a:buNone/>
              <a:defRPr sz="1000" b="0" i="0" u="none" strike="noStrike" cap="none">
                <a:solidFill>
                  <a:srgbClr val="64748B"/>
                </a:solidFill>
                <a:latin typeface="Calibri"/>
                <a:ea typeface="Calibri"/>
                <a:cs typeface="Calibri"/>
                <a:sym typeface="Calibri"/>
              </a:defRPr>
            </a:lvl3pPr>
            <a:lvl4pPr marL="0" marR="0" lvl="3" indent="0" algn="r" rtl="0">
              <a:spcBef>
                <a:spcPts val="0"/>
              </a:spcBef>
              <a:buNone/>
              <a:defRPr sz="1000" b="0" i="0" u="none" strike="noStrike" cap="none">
                <a:solidFill>
                  <a:srgbClr val="64748B"/>
                </a:solidFill>
                <a:latin typeface="Calibri"/>
                <a:ea typeface="Calibri"/>
                <a:cs typeface="Calibri"/>
                <a:sym typeface="Calibri"/>
              </a:defRPr>
            </a:lvl4pPr>
            <a:lvl5pPr marL="0" marR="0" lvl="4" indent="0" algn="r" rtl="0">
              <a:spcBef>
                <a:spcPts val="0"/>
              </a:spcBef>
              <a:buNone/>
              <a:defRPr sz="1000" b="0" i="0" u="none" strike="noStrike" cap="none">
                <a:solidFill>
                  <a:srgbClr val="64748B"/>
                </a:solidFill>
                <a:latin typeface="Calibri"/>
                <a:ea typeface="Calibri"/>
                <a:cs typeface="Calibri"/>
                <a:sym typeface="Calibri"/>
              </a:defRPr>
            </a:lvl5pPr>
            <a:lvl6pPr marL="0" marR="0" lvl="5" indent="0" algn="r" rtl="0">
              <a:spcBef>
                <a:spcPts val="0"/>
              </a:spcBef>
              <a:buNone/>
              <a:defRPr sz="1000" b="0" i="0" u="none" strike="noStrike" cap="none">
                <a:solidFill>
                  <a:srgbClr val="64748B"/>
                </a:solidFill>
                <a:latin typeface="Calibri"/>
                <a:ea typeface="Calibri"/>
                <a:cs typeface="Calibri"/>
                <a:sym typeface="Calibri"/>
              </a:defRPr>
            </a:lvl6pPr>
            <a:lvl7pPr marL="0" marR="0" lvl="6" indent="0" algn="r" rtl="0">
              <a:spcBef>
                <a:spcPts val="0"/>
              </a:spcBef>
              <a:buNone/>
              <a:defRPr sz="1000" b="0" i="0" u="none" strike="noStrike" cap="none">
                <a:solidFill>
                  <a:srgbClr val="64748B"/>
                </a:solidFill>
                <a:latin typeface="Calibri"/>
                <a:ea typeface="Calibri"/>
                <a:cs typeface="Calibri"/>
                <a:sym typeface="Calibri"/>
              </a:defRPr>
            </a:lvl7pPr>
            <a:lvl8pPr marL="0" marR="0" lvl="7" indent="0" algn="r" rtl="0">
              <a:spcBef>
                <a:spcPts val="0"/>
              </a:spcBef>
              <a:buNone/>
              <a:defRPr sz="1000" b="0" i="0" u="none" strike="noStrike" cap="none">
                <a:solidFill>
                  <a:srgbClr val="64748B"/>
                </a:solidFill>
                <a:latin typeface="Calibri"/>
                <a:ea typeface="Calibri"/>
                <a:cs typeface="Calibri"/>
                <a:sym typeface="Calibri"/>
              </a:defRPr>
            </a:lvl8pPr>
            <a:lvl9pPr marL="0" marR="0" lvl="8" indent="0" algn="r" rtl="0">
              <a:spcBef>
                <a:spcPts val="0"/>
              </a:spcBef>
              <a:buNone/>
              <a:defRPr sz="1000" b="0" i="0" u="none" strike="noStrike" cap="none">
                <a:solidFill>
                  <a:srgbClr val="6474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Shape 13"/>
        <p:cNvGrpSpPr/>
        <p:nvPr/>
      </p:nvGrpSpPr>
      <p:grpSpPr>
        <a:xfrm>
          <a:off x="0" y="0"/>
          <a:ext cx="0" cy="0"/>
          <a:chOff x="0" y="0"/>
          <a:chExt cx="0" cy="0"/>
        </a:xfrm>
      </p:grpSpPr>
      <p:sp>
        <p:nvSpPr>
          <p:cNvPr id="14" name="Google Shape;14;p1"/>
          <p:cNvSpPr txBox="1"/>
          <p:nvPr/>
        </p:nvSpPr>
        <p:spPr>
          <a:xfrm>
            <a:off x="731520" y="82296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1300"/>
              <a:buFont typeface="Calibri"/>
              <a:buNone/>
            </a:pPr>
            <a:r>
              <a:rPr lang="en-US" sz="1300" b="1" i="0" u="none" strike="noStrike" cap="none">
                <a:solidFill>
                  <a:srgbClr val="FCA311"/>
                </a:solidFill>
                <a:latin typeface="Calibri"/>
                <a:ea typeface="Calibri"/>
                <a:cs typeface="Calibri"/>
                <a:sym typeface="Calibri"/>
              </a:rPr>
              <a:t>DATA SCIENCE MINI PROJECT · 342IT DATA ANALYTICS AND DATA SCIENCE</a:t>
            </a:r>
            <a:endParaRPr sz="1300" b="0" i="0" u="none" strike="noStrike" cap="none">
              <a:solidFill>
                <a:schemeClr val="dk1"/>
              </a:solidFill>
              <a:latin typeface="Calibri"/>
              <a:ea typeface="Calibri"/>
              <a:cs typeface="Calibri"/>
              <a:sym typeface="Calibri"/>
            </a:endParaRPr>
          </a:p>
        </p:txBody>
      </p:sp>
      <p:sp>
        <p:nvSpPr>
          <p:cNvPr id="15" name="Google Shape;15;p1"/>
          <p:cNvSpPr txBox="1"/>
          <p:nvPr/>
        </p:nvSpPr>
        <p:spPr>
          <a:xfrm>
            <a:off x="731520" y="1188720"/>
            <a:ext cx="8595360" cy="1371600"/>
          </a:xfrm>
          <a:prstGeom prst="rect">
            <a:avLst/>
          </a:prstGeom>
          <a:noFill/>
          <a:ln>
            <a:noFill/>
          </a:ln>
        </p:spPr>
        <p:txBody>
          <a:bodyPr spcFirstLastPara="1" wrap="square" lIns="0" tIns="0" rIns="0" bIns="0" anchor="t" anchorCtr="0">
            <a:noAutofit/>
          </a:bodyPr>
          <a:lstStyle/>
          <a:p>
            <a:r>
              <a:rPr sz="3800" b="1">
                <a:solidFill>
                  <a:srgbClr val="FFFFFF"/>
                </a:solidFill>
                <a:latin typeface="Cambria"/>
              </a:rPr>
              <a:t>Intelligent Retail Sales and
Inventory Forecasting</a:t>
            </a:r>
          </a:p>
        </p:txBody>
      </p:sp>
      <p:sp>
        <p:nvSpPr>
          <p:cNvPr id="16" name="Google Shape;16;p1"/>
          <p:cNvSpPr txBox="1"/>
          <p:nvPr/>
        </p:nvSpPr>
        <p:spPr>
          <a:xfrm>
            <a:off x="731520" y="2788920"/>
            <a:ext cx="8595360" cy="548640"/>
          </a:xfrm>
          <a:prstGeom prst="rect">
            <a:avLst/>
          </a:prstGeom>
          <a:noFill/>
          <a:ln>
            <a:noFill/>
          </a:ln>
        </p:spPr>
        <p:txBody>
          <a:bodyPr spcFirstLastPara="1" wrap="square" lIns="0" tIns="0" rIns="0" bIns="0" anchor="t" anchorCtr="0">
            <a:noAutofit/>
          </a:bodyPr>
          <a:lstStyle/>
          <a:p>
            <a:r>
              <a:rPr sz="1800" b="0">
                <a:solidFill>
                  <a:srgbClr val="CBD5E1"/>
                </a:solidFill>
                <a:latin typeface="Calibri"/>
              </a:rPr>
              <a:t>Regression on Retail Store Inventory dataset to predict daily customer demand (Units Sold)</a:t>
            </a:r>
          </a:p>
        </p:txBody>
      </p:sp>
      <p:sp>
        <p:nvSpPr>
          <p:cNvPr id="17" name="Google Shape;17;p1"/>
          <p:cNvSpPr txBox="1"/>
          <p:nvPr/>
        </p:nvSpPr>
        <p:spPr>
          <a:xfrm>
            <a:off x="731520" y="3474720"/>
            <a:ext cx="8595360" cy="365760"/>
          </a:xfrm>
          <a:prstGeom prst="rect">
            <a:avLst/>
          </a:prstGeom>
          <a:noFill/>
          <a:ln>
            <a:noFill/>
          </a:ln>
        </p:spPr>
        <p:txBody>
          <a:bodyPr spcFirstLastPara="1" wrap="square" lIns="0" tIns="0" rIns="0" bIns="0" anchor="t" anchorCtr="0">
            <a:noAutofit/>
          </a:bodyPr>
          <a:lstStyle/>
          <a:p>
            <a:r>
              <a:rPr sz="1800" b="1">
                <a:solidFill>
                  <a:srgbClr val="FCA311"/>
                </a:solidFill>
                <a:latin typeface="Calibri"/>
              </a:rPr>
              <a:t>Active Learning Assignment: Descriptive vs Predictive</a:t>
            </a:r>
          </a:p>
        </p:txBody>
      </p:sp>
      <p:sp>
        <p:nvSpPr>
          <p:cNvPr id="18" name="Google Shape;18;p1"/>
          <p:cNvSpPr/>
          <p:nvPr/>
        </p:nvSpPr>
        <p:spPr>
          <a:xfrm>
            <a:off x="746760" y="4326605"/>
            <a:ext cx="10698480" cy="1737360"/>
          </a:xfrm>
          <a:prstGeom prst="roundRect">
            <a:avLst>
              <a:gd name="adj" fmla="val 5000"/>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txBox="1"/>
          <p:nvPr/>
        </p:nvSpPr>
        <p:spPr>
          <a:xfrm>
            <a:off x="1158240" y="4663440"/>
            <a:ext cx="4937760" cy="1737360"/>
          </a:xfrm>
          <a:prstGeom prst="rect">
            <a:avLst/>
          </a:prstGeom>
          <a:noFill/>
          <a:ln>
            <a:noFill/>
          </a:ln>
        </p:spPr>
        <p:txBody>
          <a:bodyPr spcFirstLastPara="1" wrap="square" lIns="0" tIns="0" rIns="0" bIns="0" anchor="t" anchorCtr="0">
            <a:noAutofit/>
          </a:bodyPr>
          <a:lstStyle/>
          <a:p>
            <a:r>
              <a:rPr sz="1700" b="1" dirty="0">
                <a:solidFill>
                  <a:srgbClr val="FCA311"/>
                </a:solidFill>
                <a:latin typeface="Calibri"/>
              </a:rPr>
              <a:t>Student Details</a:t>
            </a:r>
            <a:endParaRPr lang="en-US" sz="1700" b="1" dirty="0">
              <a:solidFill>
                <a:srgbClr val="FCA311"/>
              </a:solidFill>
              <a:latin typeface="Calibri"/>
            </a:endParaRPr>
          </a:p>
          <a:p>
            <a:endParaRPr sz="1700" b="1" dirty="0">
              <a:solidFill>
                <a:srgbClr val="FCA311"/>
              </a:solidFill>
              <a:latin typeface="Calibri"/>
            </a:endParaRPr>
          </a:p>
        </p:txBody>
      </p:sp>
      <p:sp>
        <p:nvSpPr>
          <p:cNvPr id="20" name="Google Shape;20;p1"/>
          <p:cNvSpPr txBox="1"/>
          <p:nvPr/>
        </p:nvSpPr>
        <p:spPr>
          <a:xfrm>
            <a:off x="6393180" y="4663440"/>
            <a:ext cx="475488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1700"/>
              <a:buFont typeface="Calibri"/>
              <a:buNone/>
            </a:pPr>
            <a:r>
              <a:rPr lang="en-US" sz="1700" b="1" i="0" u="none" strike="noStrike" cap="none" dirty="0">
                <a:solidFill>
                  <a:srgbClr val="FCA311"/>
                </a:solidFill>
                <a:latin typeface="Calibri"/>
                <a:ea typeface="Calibri"/>
                <a:cs typeface="Calibri"/>
                <a:sym typeface="Calibri"/>
              </a:rPr>
              <a:t>Faculty</a:t>
            </a:r>
            <a:endParaRPr sz="1700" b="0" i="0" u="none" strike="noStrike" cap="none" dirty="0">
              <a:solidFill>
                <a:schemeClr val="dk1"/>
              </a:solidFill>
              <a:latin typeface="Calibri"/>
              <a:ea typeface="Calibri"/>
              <a:cs typeface="Calibri"/>
              <a:sym typeface="Calibri"/>
            </a:endParaRPr>
          </a:p>
          <a:p>
            <a:pPr marL="0" marR="0" lvl="0" indent="0" algn="l" rtl="0">
              <a:spcBef>
                <a:spcPts val="800"/>
              </a:spcBef>
              <a:spcAft>
                <a:spcPts val="0"/>
              </a:spcAft>
              <a:buClr>
                <a:srgbClr val="FFFFFF"/>
              </a:buClr>
              <a:buSzPts val="1700"/>
              <a:buFont typeface="Calibri"/>
              <a:buNone/>
            </a:pPr>
            <a:r>
              <a:rPr lang="en-US" sz="1700" b="0" i="0" u="none" strike="noStrike" cap="none" dirty="0">
                <a:solidFill>
                  <a:srgbClr val="FFFFFF"/>
                </a:solidFill>
                <a:latin typeface="Calibri"/>
                <a:ea typeface="Calibri"/>
                <a:cs typeface="Calibri"/>
                <a:sym typeface="Calibri"/>
              </a:rPr>
              <a:t>Subject Teacher: Prof. Disha D Panchal</a:t>
            </a:r>
            <a:endParaRPr sz="1700" b="0" i="0" u="none" strike="noStrike" cap="none" dirty="0">
              <a:solidFill>
                <a:schemeClr val="dk1"/>
              </a:solidFill>
              <a:latin typeface="Calibri"/>
              <a:ea typeface="Calibri"/>
              <a:cs typeface="Calibri"/>
              <a:sym typeface="Calibri"/>
            </a:endParaRPr>
          </a:p>
          <a:p>
            <a:pPr marL="0" marR="0" lvl="0" indent="0" algn="l" rtl="0">
              <a:spcBef>
                <a:spcPts val="600"/>
              </a:spcBef>
              <a:spcAft>
                <a:spcPts val="0"/>
              </a:spcAft>
              <a:buNone/>
            </a:pPr>
            <a:r>
              <a:rPr lang="en-US" sz="1700" b="0" i="0" u="none" strike="noStrike" cap="none" dirty="0">
                <a:solidFill>
                  <a:srgbClr val="FFFFFF"/>
                </a:solidFill>
                <a:latin typeface="Calibri"/>
                <a:ea typeface="Calibri"/>
                <a:cs typeface="Calibri"/>
                <a:sym typeface="Calibri"/>
              </a:rPr>
              <a:t>Lab Teacher: Prof. Disha D Panchal</a:t>
            </a:r>
            <a:endParaRPr sz="1700" dirty="0">
              <a:solidFill>
                <a:schemeClr val="dk1"/>
              </a:solidFill>
              <a:latin typeface="Calibri"/>
              <a:ea typeface="Calibri"/>
              <a:cs typeface="Calibri"/>
              <a:sym typeface="Calibri"/>
            </a:endParaRPr>
          </a:p>
        </p:txBody>
      </p:sp>
      <p:pic>
        <p:nvPicPr>
          <p:cNvPr id="21" name="Google Shape;21;p1"/>
          <p:cNvPicPr preferRelativeResize="0"/>
          <p:nvPr/>
        </p:nvPicPr>
        <p:blipFill rotWithShape="1">
          <a:blip r:embed="rId3">
            <a:alphaModFix/>
          </a:blip>
          <a:srcRect/>
          <a:stretch/>
        </p:blipFill>
        <p:spPr>
          <a:xfrm>
            <a:off x="10039826" y="150451"/>
            <a:ext cx="1987817" cy="1893657"/>
          </a:xfrm>
          <a:prstGeom prst="rect">
            <a:avLst/>
          </a:prstGeom>
          <a:noFill/>
          <a:ln>
            <a:noFill/>
          </a:ln>
        </p:spPr>
      </p:pic>
      <p:sp>
        <p:nvSpPr>
          <p:cNvPr id="4" name="Google Shape;19;p1">
            <a:extLst>
              <a:ext uri="{FF2B5EF4-FFF2-40B4-BE49-F238E27FC236}">
                <a16:creationId xmlns:a16="http://schemas.microsoft.com/office/drawing/2014/main" id="{7569834C-4D38-682D-D557-1B8FB22F8232}"/>
              </a:ext>
            </a:extLst>
          </p:cNvPr>
          <p:cNvSpPr txBox="1"/>
          <p:nvPr/>
        </p:nvSpPr>
        <p:spPr>
          <a:xfrm>
            <a:off x="1158240" y="4674077"/>
            <a:ext cx="4937760" cy="17373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marR="0" lvl="0" indent="0" algn="l" rtl="0">
              <a:spcBef>
                <a:spcPts val="0"/>
              </a:spcBef>
              <a:spcAft>
                <a:spcPts val="0"/>
              </a:spcAft>
              <a:buClr>
                <a:srgbClr val="FCA311"/>
              </a:buClr>
              <a:buSzPts val="1700"/>
              <a:buFont typeface="Calibri"/>
              <a:buNone/>
            </a:pPr>
            <a:r>
              <a:rPr lang="en-US" sz="1700" b="1" i="0" u="none" strike="noStrike" cap="none" dirty="0">
                <a:solidFill>
                  <a:srgbClr val="FCA311"/>
                </a:solidFill>
                <a:latin typeface="Calibri"/>
                <a:ea typeface="Calibri"/>
                <a:cs typeface="Calibri"/>
                <a:sym typeface="Calibri"/>
              </a:rPr>
              <a:t>Student Details</a:t>
            </a:r>
            <a:endParaRPr sz="1700" b="0" i="0" u="none" strike="noStrike" cap="none" dirty="0">
              <a:solidFill>
                <a:schemeClr val="dk1"/>
              </a:solidFill>
              <a:latin typeface="Calibri"/>
              <a:ea typeface="Calibri"/>
              <a:cs typeface="Calibri"/>
              <a:sym typeface="Calibri"/>
            </a:endParaRPr>
          </a:p>
          <a:p>
            <a:pPr marL="0" marR="0" lvl="0" indent="0" algn="l" rtl="0">
              <a:spcBef>
                <a:spcPts val="800"/>
              </a:spcBef>
              <a:spcAft>
                <a:spcPts val="0"/>
              </a:spcAft>
              <a:buClr>
                <a:srgbClr val="FFFFFF"/>
              </a:buClr>
              <a:buSzPts val="1700"/>
              <a:buFont typeface="Calibri"/>
              <a:buNone/>
            </a:pPr>
            <a:r>
              <a:rPr lang="en-US" sz="1700" b="0" i="0" u="none" strike="noStrike" cap="none" dirty="0">
                <a:solidFill>
                  <a:srgbClr val="FFFFFF"/>
                </a:solidFill>
                <a:latin typeface="Calibri"/>
                <a:ea typeface="Calibri"/>
                <a:cs typeface="Calibri"/>
                <a:sym typeface="Calibri"/>
              </a:rPr>
              <a:t>Name: </a:t>
            </a:r>
            <a:r>
              <a:rPr lang="en-US" sz="1700" dirty="0">
                <a:solidFill>
                  <a:srgbClr val="FFFFFF"/>
                </a:solidFill>
                <a:latin typeface="Calibri"/>
                <a:ea typeface="Calibri"/>
                <a:cs typeface="Calibri"/>
                <a:sym typeface="Calibri"/>
              </a:rPr>
              <a:t>Kalp Shah</a:t>
            </a:r>
            <a:endParaRPr sz="1700" b="0" i="0" u="none" strike="noStrike" cap="none" dirty="0">
              <a:solidFill>
                <a:schemeClr val="dk1"/>
              </a:solidFill>
              <a:latin typeface="Calibri"/>
              <a:ea typeface="Calibri"/>
              <a:cs typeface="Calibri"/>
              <a:sym typeface="Calibri"/>
            </a:endParaRPr>
          </a:p>
          <a:p>
            <a:pPr marL="0" marR="0" lvl="0" indent="0" algn="l" rtl="0">
              <a:spcBef>
                <a:spcPts val="600"/>
              </a:spcBef>
              <a:spcAft>
                <a:spcPts val="0"/>
              </a:spcAft>
              <a:buClr>
                <a:srgbClr val="FFFFFF"/>
              </a:buClr>
              <a:buSzPts val="1700"/>
              <a:buFont typeface="Calibri"/>
              <a:buNone/>
            </a:pPr>
            <a:r>
              <a:rPr lang="en-US" sz="1700" b="0" i="0" u="none" strike="noStrike" cap="none" dirty="0">
                <a:solidFill>
                  <a:srgbClr val="FFFFFF"/>
                </a:solidFill>
                <a:latin typeface="Calibri"/>
                <a:ea typeface="Calibri"/>
                <a:cs typeface="Calibri"/>
                <a:sym typeface="Calibri"/>
              </a:rPr>
              <a:t>Id No : 24IT447</a:t>
            </a:r>
            <a:endParaRPr sz="1700" b="0" i="0" u="none" strike="noStrike" cap="none" dirty="0">
              <a:solidFill>
                <a:schemeClr val="dk1"/>
              </a:solidFill>
              <a:latin typeface="Calibri"/>
              <a:ea typeface="Calibri"/>
              <a:cs typeface="Calibri"/>
              <a:sym typeface="Calibri"/>
            </a:endParaRPr>
          </a:p>
          <a:p>
            <a:pPr marL="0" marR="0" lvl="0" indent="0" algn="l" rtl="0">
              <a:spcBef>
                <a:spcPts val="600"/>
              </a:spcBef>
              <a:spcAft>
                <a:spcPts val="0"/>
              </a:spcAft>
              <a:buClr>
                <a:schemeClr val="dk1"/>
              </a:buClr>
              <a:buSzPts val="1700"/>
              <a:buFont typeface="Calibri"/>
              <a:buNone/>
            </a:pPr>
            <a:endParaRPr sz="17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2"/>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ACTIVE LEARNING ASSIGNMENT</a:t>
            </a:r>
            <a:endParaRPr sz="1200">
              <a:solidFill>
                <a:schemeClr val="dk1"/>
              </a:solidFill>
              <a:latin typeface="Calibri"/>
              <a:ea typeface="Calibri"/>
              <a:cs typeface="Calibri"/>
              <a:sym typeface="Calibri"/>
            </a:endParaRPr>
          </a:p>
        </p:txBody>
      </p:sp>
      <p:sp>
        <p:nvSpPr>
          <p:cNvPr id="28" name="Google Shape;28;p2"/>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Introduction to Data Analytics</a:t>
            </a:r>
            <a:endParaRPr sz="3400">
              <a:solidFill>
                <a:schemeClr val="dk1"/>
              </a:solidFill>
              <a:latin typeface="Calibri"/>
              <a:ea typeface="Calibri"/>
              <a:cs typeface="Calibri"/>
              <a:sym typeface="Calibri"/>
            </a:endParaRPr>
          </a:p>
        </p:txBody>
      </p:sp>
      <p:sp>
        <p:nvSpPr>
          <p:cNvPr id="29" name="Google Shape;29;p2"/>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30" name="Google Shape;30;p2"/>
          <p:cNvSpPr/>
          <p:nvPr/>
        </p:nvSpPr>
        <p:spPr>
          <a:xfrm>
            <a:off x="548640" y="1371600"/>
            <a:ext cx="11064240" cy="1005840"/>
          </a:xfrm>
          <a:prstGeom prst="roundRect">
            <a:avLst>
              <a:gd name="adj" fmla="val 10909"/>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txBox="1"/>
          <p:nvPr/>
        </p:nvSpPr>
        <p:spPr>
          <a:xfrm>
            <a:off x="777240" y="1481328"/>
            <a:ext cx="106070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600">
                <a:solidFill>
                  <a:srgbClr val="1E293B"/>
                </a:solidFill>
                <a:latin typeface="Calibri"/>
                <a:ea typeface="Calibri"/>
                <a:cs typeface="Calibri"/>
                <a:sym typeface="Calibri"/>
              </a:rPr>
              <a:t>Data analytics is the process of collecting, cleaning and examining data to find patterns and support better decisions. Its four types build on each other, from understanding the past to acting on the future.</a:t>
            </a:r>
            <a:endParaRPr sz="1600">
              <a:solidFill>
                <a:schemeClr val="dk1"/>
              </a:solidFill>
              <a:latin typeface="Calibri"/>
              <a:ea typeface="Calibri"/>
              <a:cs typeface="Calibri"/>
              <a:sym typeface="Calibri"/>
            </a:endParaRPr>
          </a:p>
        </p:txBody>
      </p:sp>
      <p:sp>
        <p:nvSpPr>
          <p:cNvPr id="32" name="Google Shape;32;p2"/>
          <p:cNvSpPr/>
          <p:nvPr/>
        </p:nvSpPr>
        <p:spPr>
          <a:xfrm>
            <a:off x="548640" y="2651760"/>
            <a:ext cx="2606040" cy="3291840"/>
          </a:xfrm>
          <a:prstGeom prst="roundRect">
            <a:avLst>
              <a:gd name="adj" fmla="val 4211"/>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77240" y="2880360"/>
            <a:ext cx="548640" cy="548640"/>
          </a:xfrm>
          <a:prstGeom prst="ellipse">
            <a:avLst/>
          </a:prstGeom>
          <a:solidFill>
            <a:srgbClr val="2A9D8F"/>
          </a:solidFill>
          <a:ln w="12700" cap="flat" cmpd="sng">
            <a:solidFill>
              <a:srgbClr val="2A9D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txBox="1"/>
          <p:nvPr/>
        </p:nvSpPr>
        <p:spPr>
          <a:xfrm>
            <a:off x="777240" y="28803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a:t>
            </a:r>
            <a:endParaRPr sz="1600">
              <a:solidFill>
                <a:schemeClr val="dk1"/>
              </a:solidFill>
              <a:latin typeface="Calibri"/>
              <a:ea typeface="Calibri"/>
              <a:cs typeface="Calibri"/>
              <a:sym typeface="Calibri"/>
            </a:endParaRPr>
          </a:p>
        </p:txBody>
      </p:sp>
      <p:sp>
        <p:nvSpPr>
          <p:cNvPr id="35" name="Google Shape;35;p2"/>
          <p:cNvSpPr txBox="1"/>
          <p:nvPr/>
        </p:nvSpPr>
        <p:spPr>
          <a:xfrm>
            <a:off x="777240" y="3611880"/>
            <a:ext cx="219456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200"/>
              <a:buFont typeface="Cambria"/>
              <a:buNone/>
            </a:pPr>
            <a:r>
              <a:rPr lang="en-US" sz="2200" b="1">
                <a:solidFill>
                  <a:srgbClr val="14213D"/>
                </a:solidFill>
                <a:latin typeface="Cambria"/>
                <a:ea typeface="Cambria"/>
                <a:cs typeface="Cambria"/>
                <a:sym typeface="Cambria"/>
              </a:rPr>
              <a:t>Descriptive</a:t>
            </a:r>
            <a:endParaRPr sz="2200">
              <a:solidFill>
                <a:schemeClr val="dk1"/>
              </a:solidFill>
              <a:latin typeface="Calibri"/>
              <a:ea typeface="Calibri"/>
              <a:cs typeface="Calibri"/>
              <a:sym typeface="Calibri"/>
            </a:endParaRPr>
          </a:p>
        </p:txBody>
      </p:sp>
      <p:sp>
        <p:nvSpPr>
          <p:cNvPr id="36" name="Google Shape;36;p2"/>
          <p:cNvSpPr txBox="1"/>
          <p:nvPr/>
        </p:nvSpPr>
        <p:spPr>
          <a:xfrm>
            <a:off x="777240" y="4069080"/>
            <a:ext cx="21945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400"/>
              <a:buFont typeface="Calibri"/>
              <a:buNone/>
            </a:pPr>
            <a:r>
              <a:rPr lang="en-US" sz="1400" i="1">
                <a:solidFill>
                  <a:srgbClr val="64748B"/>
                </a:solidFill>
                <a:latin typeface="Calibri"/>
                <a:ea typeface="Calibri"/>
                <a:cs typeface="Calibri"/>
                <a:sym typeface="Calibri"/>
              </a:rPr>
              <a:t>What happened?</a:t>
            </a:r>
            <a:endParaRPr sz="1400">
              <a:solidFill>
                <a:schemeClr val="dk1"/>
              </a:solidFill>
              <a:latin typeface="Calibri"/>
              <a:ea typeface="Calibri"/>
              <a:cs typeface="Calibri"/>
              <a:sym typeface="Calibri"/>
            </a:endParaRPr>
          </a:p>
        </p:txBody>
      </p:sp>
      <p:sp>
        <p:nvSpPr>
          <p:cNvPr id="37" name="Google Shape;37;p2"/>
          <p:cNvSpPr txBox="1"/>
          <p:nvPr/>
        </p:nvSpPr>
        <p:spPr>
          <a:xfrm>
            <a:off x="777240" y="4526280"/>
            <a:ext cx="2194560" cy="228600"/>
          </a:xfrm>
          <a:prstGeom prst="rect">
            <a:avLst/>
          </a:prstGeom>
          <a:noFill/>
          <a:ln>
            <a:noFill/>
          </a:ln>
        </p:spPr>
        <p:txBody>
          <a:bodyPr spcFirstLastPara="1" wrap="square" lIns="0" tIns="0" rIns="0" bIns="0" anchor="t" anchorCtr="0">
            <a:noAutofit/>
          </a:bodyPr>
          <a:lstStyle/>
          <a:p>
            <a:pPr algn="l"/>
            <a:r>
              <a:rPr sz="1100" b="1">
                <a:solidFill>
                  <a:srgbClr val="A86400"/>
                </a:solidFill>
                <a:latin typeface="Calibri"/>
              </a:rPr>
              <a:t>RETAIL EXAMPLE</a:t>
            </a:r>
          </a:p>
        </p:txBody>
      </p:sp>
      <p:sp>
        <p:nvSpPr>
          <p:cNvPr id="38" name="Google Shape;38;p2"/>
          <p:cNvSpPr txBox="1"/>
          <p:nvPr/>
        </p:nvSpPr>
        <p:spPr>
          <a:xfrm>
            <a:off x="777240" y="4800600"/>
            <a:ext cx="2194560" cy="1097280"/>
          </a:xfrm>
          <a:prstGeom prst="rect">
            <a:avLst/>
          </a:prstGeom>
          <a:noFill/>
          <a:ln>
            <a:noFill/>
          </a:ln>
        </p:spPr>
        <p:txBody>
          <a:bodyPr spcFirstLastPara="1" wrap="square" lIns="0" tIns="0" rIns="0" bIns="0" anchor="t" anchorCtr="0">
            <a:noAutofit/>
          </a:bodyPr>
          <a:lstStyle/>
          <a:p>
            <a:pPr algn="l"/>
            <a:r>
              <a:rPr sz="1350" b="0">
                <a:solidFill>
                  <a:srgbClr val="1E293B"/>
                </a:solidFill>
                <a:latin typeface="Calibri"/>
              </a:rPr>
              <a:t>Average store sales were ~136.5 units/day, with mean inventory maintained at 274.5 units across 5 regional stores.</a:t>
            </a:r>
          </a:p>
        </p:txBody>
      </p:sp>
      <p:sp>
        <p:nvSpPr>
          <p:cNvPr id="39" name="Google Shape;39;p2"/>
          <p:cNvSpPr/>
          <p:nvPr/>
        </p:nvSpPr>
        <p:spPr>
          <a:xfrm>
            <a:off x="3367735" y="2651760"/>
            <a:ext cx="2606040" cy="3291840"/>
          </a:xfrm>
          <a:prstGeom prst="roundRect">
            <a:avLst>
              <a:gd name="adj" fmla="val 4211"/>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596335" y="2880360"/>
            <a:ext cx="548640" cy="54864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txBox="1"/>
          <p:nvPr/>
        </p:nvSpPr>
        <p:spPr>
          <a:xfrm>
            <a:off x="3596335" y="28803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2</a:t>
            </a:r>
            <a:endParaRPr sz="1600">
              <a:solidFill>
                <a:schemeClr val="dk1"/>
              </a:solidFill>
              <a:latin typeface="Calibri"/>
              <a:ea typeface="Calibri"/>
              <a:cs typeface="Calibri"/>
              <a:sym typeface="Calibri"/>
            </a:endParaRPr>
          </a:p>
        </p:txBody>
      </p:sp>
      <p:sp>
        <p:nvSpPr>
          <p:cNvPr id="42" name="Google Shape;42;p2"/>
          <p:cNvSpPr txBox="1"/>
          <p:nvPr/>
        </p:nvSpPr>
        <p:spPr>
          <a:xfrm>
            <a:off x="3596335" y="3611880"/>
            <a:ext cx="219456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200"/>
              <a:buFont typeface="Cambria"/>
              <a:buNone/>
            </a:pPr>
            <a:r>
              <a:rPr lang="en-US" sz="2200" b="1">
                <a:solidFill>
                  <a:srgbClr val="14213D"/>
                </a:solidFill>
                <a:latin typeface="Cambria"/>
                <a:ea typeface="Cambria"/>
                <a:cs typeface="Cambria"/>
                <a:sym typeface="Cambria"/>
              </a:rPr>
              <a:t>Diagnostic</a:t>
            </a:r>
            <a:endParaRPr sz="2200">
              <a:solidFill>
                <a:schemeClr val="dk1"/>
              </a:solidFill>
              <a:latin typeface="Calibri"/>
              <a:ea typeface="Calibri"/>
              <a:cs typeface="Calibri"/>
              <a:sym typeface="Calibri"/>
            </a:endParaRPr>
          </a:p>
        </p:txBody>
      </p:sp>
      <p:sp>
        <p:nvSpPr>
          <p:cNvPr id="43" name="Google Shape;43;p2"/>
          <p:cNvSpPr txBox="1"/>
          <p:nvPr/>
        </p:nvSpPr>
        <p:spPr>
          <a:xfrm>
            <a:off x="3596335" y="4069080"/>
            <a:ext cx="21945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400"/>
              <a:buFont typeface="Calibri"/>
              <a:buNone/>
            </a:pPr>
            <a:r>
              <a:rPr lang="en-US" sz="1400" i="1">
                <a:solidFill>
                  <a:srgbClr val="64748B"/>
                </a:solidFill>
                <a:latin typeface="Calibri"/>
                <a:ea typeface="Calibri"/>
                <a:cs typeface="Calibri"/>
                <a:sym typeface="Calibri"/>
              </a:rPr>
              <a:t>Why did it happen?</a:t>
            </a:r>
            <a:endParaRPr sz="1400">
              <a:solidFill>
                <a:schemeClr val="dk1"/>
              </a:solidFill>
              <a:latin typeface="Calibri"/>
              <a:ea typeface="Calibri"/>
              <a:cs typeface="Calibri"/>
              <a:sym typeface="Calibri"/>
            </a:endParaRPr>
          </a:p>
        </p:txBody>
      </p:sp>
      <p:sp>
        <p:nvSpPr>
          <p:cNvPr id="44" name="Google Shape;44;p2"/>
          <p:cNvSpPr txBox="1"/>
          <p:nvPr/>
        </p:nvSpPr>
        <p:spPr>
          <a:xfrm>
            <a:off x="3596335" y="4526280"/>
            <a:ext cx="2194560" cy="228600"/>
          </a:xfrm>
          <a:prstGeom prst="rect">
            <a:avLst/>
          </a:prstGeom>
          <a:noFill/>
          <a:ln>
            <a:noFill/>
          </a:ln>
        </p:spPr>
        <p:txBody>
          <a:bodyPr spcFirstLastPara="1" wrap="square" lIns="0" tIns="0" rIns="0" bIns="0" anchor="t" anchorCtr="0">
            <a:noAutofit/>
          </a:bodyPr>
          <a:lstStyle/>
          <a:p>
            <a:pPr algn="l"/>
            <a:r>
              <a:rPr sz="1100" b="1">
                <a:solidFill>
                  <a:srgbClr val="A86400"/>
                </a:solidFill>
                <a:latin typeface="Calibri"/>
              </a:rPr>
              <a:t>RETAIL EXAMPLE</a:t>
            </a:r>
          </a:p>
        </p:txBody>
      </p:sp>
      <p:sp>
        <p:nvSpPr>
          <p:cNvPr id="45" name="Google Shape;45;p2"/>
          <p:cNvSpPr txBox="1"/>
          <p:nvPr/>
        </p:nvSpPr>
        <p:spPr>
          <a:xfrm>
            <a:off x="3596335" y="4800600"/>
            <a:ext cx="2194560" cy="1097280"/>
          </a:xfrm>
          <a:prstGeom prst="rect">
            <a:avLst/>
          </a:prstGeom>
          <a:noFill/>
          <a:ln>
            <a:noFill/>
          </a:ln>
        </p:spPr>
        <p:txBody>
          <a:bodyPr spcFirstLastPara="1" wrap="square" lIns="0" tIns="0" rIns="0" bIns="0" anchor="t" anchorCtr="0">
            <a:noAutofit/>
          </a:bodyPr>
          <a:lstStyle/>
          <a:p>
            <a:pPr algn="l"/>
            <a:r>
              <a:rPr sz="1350" b="0">
                <a:solidFill>
                  <a:srgbClr val="1E293B"/>
                </a:solidFill>
                <a:latin typeface="Calibri"/>
              </a:rPr>
              <a:t>Promotional discounts surge sales velocity. Is demand driven by holiday timing, store region, or product category?</a:t>
            </a:r>
          </a:p>
        </p:txBody>
      </p:sp>
      <p:sp>
        <p:nvSpPr>
          <p:cNvPr id="46" name="Google Shape;46;p2"/>
          <p:cNvSpPr/>
          <p:nvPr/>
        </p:nvSpPr>
        <p:spPr>
          <a:xfrm>
            <a:off x="6186830" y="2651760"/>
            <a:ext cx="2606040" cy="3291840"/>
          </a:xfrm>
          <a:prstGeom prst="roundRect">
            <a:avLst>
              <a:gd name="adj" fmla="val 4211"/>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415430" y="2880360"/>
            <a:ext cx="548640" cy="548640"/>
          </a:xfrm>
          <a:prstGeom prst="ellipse">
            <a:avLst/>
          </a:prstGeom>
          <a:solidFill>
            <a:srgbClr val="FCA311"/>
          </a:solidFill>
          <a:ln w="12700" cap="flat" cmpd="sng">
            <a:solidFill>
              <a:srgbClr val="FCA3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txBox="1"/>
          <p:nvPr/>
        </p:nvSpPr>
        <p:spPr>
          <a:xfrm>
            <a:off x="6415430" y="28803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13D"/>
              </a:buClr>
              <a:buSzPts val="1600"/>
              <a:buFont typeface="Cambria"/>
              <a:buNone/>
            </a:pPr>
            <a:r>
              <a:rPr lang="en-US" sz="1600" b="1">
                <a:solidFill>
                  <a:srgbClr val="14213D"/>
                </a:solidFill>
                <a:latin typeface="Cambria"/>
                <a:ea typeface="Cambria"/>
                <a:cs typeface="Cambria"/>
                <a:sym typeface="Cambria"/>
              </a:rPr>
              <a:t>3</a:t>
            </a:r>
            <a:endParaRPr sz="1600">
              <a:solidFill>
                <a:schemeClr val="dk1"/>
              </a:solidFill>
              <a:latin typeface="Calibri"/>
              <a:ea typeface="Calibri"/>
              <a:cs typeface="Calibri"/>
              <a:sym typeface="Calibri"/>
            </a:endParaRPr>
          </a:p>
        </p:txBody>
      </p:sp>
      <p:sp>
        <p:nvSpPr>
          <p:cNvPr id="49" name="Google Shape;49;p2"/>
          <p:cNvSpPr txBox="1"/>
          <p:nvPr/>
        </p:nvSpPr>
        <p:spPr>
          <a:xfrm>
            <a:off x="6415430" y="3611880"/>
            <a:ext cx="219456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200"/>
              <a:buFont typeface="Cambria"/>
              <a:buNone/>
            </a:pPr>
            <a:r>
              <a:rPr lang="en-US" sz="2200" b="1">
                <a:solidFill>
                  <a:srgbClr val="14213D"/>
                </a:solidFill>
                <a:latin typeface="Cambria"/>
                <a:ea typeface="Cambria"/>
                <a:cs typeface="Cambria"/>
                <a:sym typeface="Cambria"/>
              </a:rPr>
              <a:t>Predictive</a:t>
            </a:r>
            <a:endParaRPr sz="2200">
              <a:solidFill>
                <a:schemeClr val="dk1"/>
              </a:solidFill>
              <a:latin typeface="Calibri"/>
              <a:ea typeface="Calibri"/>
              <a:cs typeface="Calibri"/>
              <a:sym typeface="Calibri"/>
            </a:endParaRPr>
          </a:p>
        </p:txBody>
      </p:sp>
      <p:sp>
        <p:nvSpPr>
          <p:cNvPr id="50" name="Google Shape;50;p2"/>
          <p:cNvSpPr txBox="1"/>
          <p:nvPr/>
        </p:nvSpPr>
        <p:spPr>
          <a:xfrm>
            <a:off x="6415430" y="4069080"/>
            <a:ext cx="21945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400"/>
              <a:buFont typeface="Calibri"/>
              <a:buNone/>
            </a:pPr>
            <a:r>
              <a:rPr lang="en-US" sz="1400" i="1">
                <a:solidFill>
                  <a:srgbClr val="64748B"/>
                </a:solidFill>
                <a:latin typeface="Calibri"/>
                <a:ea typeface="Calibri"/>
                <a:cs typeface="Calibri"/>
                <a:sym typeface="Calibri"/>
              </a:rPr>
              <a:t>What will happen?</a:t>
            </a:r>
            <a:endParaRPr sz="1400">
              <a:solidFill>
                <a:schemeClr val="dk1"/>
              </a:solidFill>
              <a:latin typeface="Calibri"/>
              <a:ea typeface="Calibri"/>
              <a:cs typeface="Calibri"/>
              <a:sym typeface="Calibri"/>
            </a:endParaRPr>
          </a:p>
        </p:txBody>
      </p:sp>
      <p:sp>
        <p:nvSpPr>
          <p:cNvPr id="51" name="Google Shape;51;p2"/>
          <p:cNvSpPr txBox="1"/>
          <p:nvPr/>
        </p:nvSpPr>
        <p:spPr>
          <a:xfrm>
            <a:off x="6415430" y="4526280"/>
            <a:ext cx="2194560" cy="228600"/>
          </a:xfrm>
          <a:prstGeom prst="rect">
            <a:avLst/>
          </a:prstGeom>
          <a:noFill/>
          <a:ln>
            <a:noFill/>
          </a:ln>
        </p:spPr>
        <p:txBody>
          <a:bodyPr spcFirstLastPara="1" wrap="square" lIns="0" tIns="0" rIns="0" bIns="0" anchor="t" anchorCtr="0">
            <a:noAutofit/>
          </a:bodyPr>
          <a:lstStyle/>
          <a:p>
            <a:pPr algn="l"/>
            <a:r>
              <a:rPr sz="1100" b="1">
                <a:solidFill>
                  <a:srgbClr val="A86400"/>
                </a:solidFill>
                <a:latin typeface="Calibri"/>
              </a:rPr>
              <a:t>RETAIL EXAMPLE</a:t>
            </a:r>
          </a:p>
        </p:txBody>
      </p:sp>
      <p:sp>
        <p:nvSpPr>
          <p:cNvPr id="52" name="Google Shape;52;p2"/>
          <p:cNvSpPr txBox="1"/>
          <p:nvPr/>
        </p:nvSpPr>
        <p:spPr>
          <a:xfrm>
            <a:off x="6415430" y="4800600"/>
            <a:ext cx="2194560" cy="1097280"/>
          </a:xfrm>
          <a:prstGeom prst="rect">
            <a:avLst/>
          </a:prstGeom>
          <a:noFill/>
          <a:ln>
            <a:noFill/>
          </a:ln>
        </p:spPr>
        <p:txBody>
          <a:bodyPr spcFirstLastPara="1" wrap="square" lIns="0" tIns="0" rIns="0" bIns="0" anchor="t" anchorCtr="0">
            <a:noAutofit/>
          </a:bodyPr>
          <a:lstStyle/>
          <a:p>
            <a:pPr algn="l"/>
            <a:r>
              <a:rPr sz="1350" b="0">
                <a:solidFill>
                  <a:srgbClr val="1E293B"/>
                </a:solidFill>
                <a:latin typeface="Calibri"/>
              </a:rPr>
              <a:t>Estimate tomorrow's Units Sold for a grocery item given scheduled promotions, weather, and current shelf stock.</a:t>
            </a:r>
          </a:p>
        </p:txBody>
      </p:sp>
      <p:sp>
        <p:nvSpPr>
          <p:cNvPr id="53" name="Google Shape;53;p2"/>
          <p:cNvSpPr/>
          <p:nvPr/>
        </p:nvSpPr>
        <p:spPr>
          <a:xfrm>
            <a:off x="9005926" y="2651760"/>
            <a:ext cx="2606040" cy="3291840"/>
          </a:xfrm>
          <a:prstGeom prst="roundRect">
            <a:avLst>
              <a:gd name="adj" fmla="val 4211"/>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234526" y="2880360"/>
            <a:ext cx="548640" cy="548640"/>
          </a:xfrm>
          <a:prstGeom prst="ellipse">
            <a:avLst/>
          </a:prstGeom>
          <a:solidFill>
            <a:srgbClr val="D1495B"/>
          </a:solidFill>
          <a:ln w="12700" cap="flat" cmpd="sng">
            <a:solidFill>
              <a:srgbClr val="D149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txBox="1"/>
          <p:nvPr/>
        </p:nvSpPr>
        <p:spPr>
          <a:xfrm>
            <a:off x="9234526" y="28803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4</a:t>
            </a:r>
            <a:endParaRPr sz="1600">
              <a:solidFill>
                <a:schemeClr val="dk1"/>
              </a:solidFill>
              <a:latin typeface="Calibri"/>
              <a:ea typeface="Calibri"/>
              <a:cs typeface="Calibri"/>
              <a:sym typeface="Calibri"/>
            </a:endParaRPr>
          </a:p>
        </p:txBody>
      </p:sp>
      <p:sp>
        <p:nvSpPr>
          <p:cNvPr id="56" name="Google Shape;56;p2"/>
          <p:cNvSpPr txBox="1"/>
          <p:nvPr/>
        </p:nvSpPr>
        <p:spPr>
          <a:xfrm>
            <a:off x="9234526" y="3611880"/>
            <a:ext cx="219456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200"/>
              <a:buFont typeface="Cambria"/>
              <a:buNone/>
            </a:pPr>
            <a:r>
              <a:rPr lang="en-US" sz="2200" b="1">
                <a:solidFill>
                  <a:srgbClr val="14213D"/>
                </a:solidFill>
                <a:latin typeface="Cambria"/>
                <a:ea typeface="Cambria"/>
                <a:cs typeface="Cambria"/>
                <a:sym typeface="Cambria"/>
              </a:rPr>
              <a:t>Prescriptive</a:t>
            </a:r>
            <a:endParaRPr sz="2200">
              <a:solidFill>
                <a:schemeClr val="dk1"/>
              </a:solidFill>
              <a:latin typeface="Calibri"/>
              <a:ea typeface="Calibri"/>
              <a:cs typeface="Calibri"/>
              <a:sym typeface="Calibri"/>
            </a:endParaRPr>
          </a:p>
        </p:txBody>
      </p:sp>
      <p:sp>
        <p:nvSpPr>
          <p:cNvPr id="57" name="Google Shape;57;p2"/>
          <p:cNvSpPr txBox="1"/>
          <p:nvPr/>
        </p:nvSpPr>
        <p:spPr>
          <a:xfrm>
            <a:off x="9234526" y="4069080"/>
            <a:ext cx="21945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400"/>
              <a:buFont typeface="Calibri"/>
              <a:buNone/>
            </a:pPr>
            <a:r>
              <a:rPr lang="en-US" sz="1400" i="1">
                <a:solidFill>
                  <a:srgbClr val="64748B"/>
                </a:solidFill>
                <a:latin typeface="Calibri"/>
                <a:ea typeface="Calibri"/>
                <a:cs typeface="Calibri"/>
                <a:sym typeface="Calibri"/>
              </a:rPr>
              <a:t>What should we do?</a:t>
            </a:r>
            <a:endParaRPr sz="1400">
              <a:solidFill>
                <a:schemeClr val="dk1"/>
              </a:solidFill>
              <a:latin typeface="Calibri"/>
              <a:ea typeface="Calibri"/>
              <a:cs typeface="Calibri"/>
              <a:sym typeface="Calibri"/>
            </a:endParaRPr>
          </a:p>
        </p:txBody>
      </p:sp>
      <p:sp>
        <p:nvSpPr>
          <p:cNvPr id="58" name="Google Shape;58;p2"/>
          <p:cNvSpPr txBox="1"/>
          <p:nvPr/>
        </p:nvSpPr>
        <p:spPr>
          <a:xfrm>
            <a:off x="9234526" y="4526280"/>
            <a:ext cx="2194560" cy="228600"/>
          </a:xfrm>
          <a:prstGeom prst="rect">
            <a:avLst/>
          </a:prstGeom>
          <a:noFill/>
          <a:ln>
            <a:noFill/>
          </a:ln>
        </p:spPr>
        <p:txBody>
          <a:bodyPr spcFirstLastPara="1" wrap="square" lIns="0" tIns="0" rIns="0" bIns="0" anchor="t" anchorCtr="0">
            <a:noAutofit/>
          </a:bodyPr>
          <a:lstStyle/>
          <a:p>
            <a:pPr algn="l"/>
            <a:r>
              <a:rPr sz="1100" b="1">
                <a:solidFill>
                  <a:srgbClr val="A86400"/>
                </a:solidFill>
                <a:latin typeface="Calibri"/>
              </a:rPr>
              <a:t>RETAIL EXAMPLE</a:t>
            </a:r>
          </a:p>
        </p:txBody>
      </p:sp>
      <p:sp>
        <p:nvSpPr>
          <p:cNvPr id="59" name="Google Shape;59;p2"/>
          <p:cNvSpPr txBox="1"/>
          <p:nvPr/>
        </p:nvSpPr>
        <p:spPr>
          <a:xfrm>
            <a:off x="9234526" y="4800600"/>
            <a:ext cx="2194560" cy="1097280"/>
          </a:xfrm>
          <a:prstGeom prst="rect">
            <a:avLst/>
          </a:prstGeom>
          <a:noFill/>
          <a:ln>
            <a:noFill/>
          </a:ln>
        </p:spPr>
        <p:txBody>
          <a:bodyPr spcFirstLastPara="1" wrap="square" lIns="0" tIns="0" rIns="0" bIns="0" anchor="t" anchorCtr="0">
            <a:noAutofit/>
          </a:bodyPr>
          <a:lstStyle/>
          <a:p>
            <a:pPr algn="l"/>
            <a:r>
              <a:rPr sz="1350" b="0">
                <a:solidFill>
                  <a:srgbClr val="1E293B"/>
                </a:solidFill>
                <a:latin typeface="Calibri"/>
              </a:rPr>
              <a:t>Automatically calculate optimal reorder quantities to prevent stock-outs while minimizing warehouse holding costs.</a:t>
            </a:r>
          </a:p>
        </p:txBody>
      </p:sp>
      <p:sp>
        <p:nvSpPr>
          <p:cNvPr id="60" name="Google Shape;60;p2"/>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2</a:t>
            </a:fld>
            <a:endParaRPr sz="1000">
              <a:solidFill>
                <a:srgbClr val="64748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3"/>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ACTIVE LEARNING ASSIGNMENT</a:t>
            </a:r>
            <a:endParaRPr sz="1200">
              <a:solidFill>
                <a:schemeClr val="dk1"/>
              </a:solidFill>
              <a:latin typeface="Calibri"/>
              <a:ea typeface="Calibri"/>
              <a:cs typeface="Calibri"/>
              <a:sym typeface="Calibri"/>
            </a:endParaRPr>
          </a:p>
        </p:txBody>
      </p:sp>
      <p:sp>
        <p:nvSpPr>
          <p:cNvPr id="67" name="Google Shape;67;p3"/>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Predictive Analytics</a:t>
            </a:r>
            <a:endParaRPr sz="3400">
              <a:solidFill>
                <a:schemeClr val="dk1"/>
              </a:solidFill>
              <a:latin typeface="Calibri"/>
              <a:ea typeface="Calibri"/>
              <a:cs typeface="Calibri"/>
              <a:sym typeface="Calibri"/>
            </a:endParaRPr>
          </a:p>
        </p:txBody>
      </p:sp>
      <p:sp>
        <p:nvSpPr>
          <p:cNvPr id="68" name="Google Shape;68;p3"/>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69" name="Google Shape;69;p3"/>
          <p:cNvSpPr/>
          <p:nvPr/>
        </p:nvSpPr>
        <p:spPr>
          <a:xfrm>
            <a:off x="548640" y="1371600"/>
            <a:ext cx="3474720" cy="4754880"/>
          </a:xfrm>
          <a:prstGeom prst="roundRect">
            <a:avLst>
              <a:gd name="adj" fmla="val 3158"/>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txBox="1"/>
          <p:nvPr/>
        </p:nvSpPr>
        <p:spPr>
          <a:xfrm>
            <a:off x="822960" y="1600200"/>
            <a:ext cx="2926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400"/>
              <a:buFont typeface="Cambria"/>
              <a:buNone/>
            </a:pPr>
            <a:r>
              <a:rPr lang="en-US" sz="2400" b="1">
                <a:solidFill>
                  <a:srgbClr val="14213D"/>
                </a:solidFill>
                <a:latin typeface="Cambria"/>
                <a:ea typeface="Cambria"/>
                <a:cs typeface="Cambria"/>
                <a:sym typeface="Cambria"/>
              </a:rPr>
              <a:t>Regression</a:t>
            </a:r>
            <a:endParaRPr sz="2400">
              <a:solidFill>
                <a:schemeClr val="dk1"/>
              </a:solidFill>
              <a:latin typeface="Calibri"/>
              <a:ea typeface="Calibri"/>
              <a:cs typeface="Calibri"/>
              <a:sym typeface="Calibri"/>
            </a:endParaRPr>
          </a:p>
        </p:txBody>
      </p:sp>
      <p:sp>
        <p:nvSpPr>
          <p:cNvPr id="71" name="Google Shape;71;p3"/>
          <p:cNvSpPr txBox="1"/>
          <p:nvPr/>
        </p:nvSpPr>
        <p:spPr>
          <a:xfrm>
            <a:off x="822960" y="2286000"/>
            <a:ext cx="2926080" cy="3657600"/>
          </a:xfrm>
          <a:prstGeom prst="rect">
            <a:avLst/>
          </a:prstGeom>
          <a:noFill/>
          <a:ln>
            <a:noFill/>
          </a:ln>
        </p:spPr>
        <p:txBody>
          <a:bodyPr spcFirstLastPara="1" wrap="square" lIns="0" tIns="0" rIns="0" bIns="0" anchor="t" anchorCtr="0">
            <a:noAutofit/>
          </a:bodyPr>
          <a:lstStyle/>
          <a:p>
            <a:pPr>
              <a:spcAft>
                <a:spcPts val="800"/>
              </a:spcAft>
            </a:pPr>
            <a:r>
              <a:rPr sz="1400">
                <a:solidFill>
                  <a:srgbClr val="1E293B"/>
                </a:solidFill>
                <a:latin typeface="Calibri"/>
              </a:rPr>
              <a:t>• Predicts a continuous number (daily units sold), not a discrete category</a:t>
            </a:r>
          </a:p>
          <a:p>
            <a:pPr>
              <a:spcAft>
                <a:spcPts val="800"/>
              </a:spcAft>
            </a:pPr>
            <a:r>
              <a:rPr sz="1400">
                <a:solidFill>
                  <a:srgbClr val="1E293B"/>
                </a:solidFill>
                <a:latin typeface="Calibri"/>
              </a:rPr>
              <a:t>• Learns how inventory levels, promotions and pricing drive consumer demand</a:t>
            </a:r>
          </a:p>
          <a:p>
            <a:pPr>
              <a:spcAft>
                <a:spcPts val="800"/>
              </a:spcAft>
            </a:pPr>
            <a:r>
              <a:rPr sz="1400">
                <a:solidFill>
                  <a:srgbClr val="1E293B"/>
                </a:solidFill>
                <a:latin typeface="Calibri"/>
              </a:rPr>
              <a:t>• Then estimates units sold for upcoming retail dates and conditions</a:t>
            </a:r>
          </a:p>
          <a:p>
            <a:pPr>
              <a:spcAft>
                <a:spcPts val="800"/>
              </a:spcAft>
            </a:pPr>
            <a:r>
              <a:rPr sz="1400">
                <a:solidFill>
                  <a:srgbClr val="1E293B"/>
                </a:solidFill>
                <a:latin typeface="Calibri"/>
              </a:rPr>
              <a:t>• Our problem: multi-variable regression with Units Sold as the target</a:t>
            </a:r>
          </a:p>
        </p:txBody>
      </p:sp>
      <p:sp>
        <p:nvSpPr>
          <p:cNvPr id="72" name="Google Shape;72;p3"/>
          <p:cNvSpPr/>
          <p:nvPr/>
        </p:nvSpPr>
        <p:spPr>
          <a:xfrm>
            <a:off x="4343400" y="1371600"/>
            <a:ext cx="3657600" cy="4754880"/>
          </a:xfrm>
          <a:prstGeom prst="roundRect">
            <a:avLst>
              <a:gd name="adj" fmla="val 3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txBox="1"/>
          <p:nvPr/>
        </p:nvSpPr>
        <p:spPr>
          <a:xfrm>
            <a:off x="4617720" y="1600200"/>
            <a:ext cx="3108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000"/>
              <a:buFont typeface="Cambria"/>
              <a:buNone/>
            </a:pPr>
            <a:r>
              <a:rPr lang="en-US" sz="2000" b="1">
                <a:solidFill>
                  <a:srgbClr val="14213D"/>
                </a:solidFill>
                <a:latin typeface="Cambria"/>
                <a:ea typeface="Cambria"/>
                <a:cs typeface="Cambria"/>
                <a:sym typeface="Cambria"/>
              </a:rPr>
              <a:t>Features and target</a:t>
            </a:r>
            <a:endParaRPr sz="2000">
              <a:solidFill>
                <a:schemeClr val="dk1"/>
              </a:solidFill>
              <a:latin typeface="Calibri"/>
              <a:ea typeface="Calibri"/>
              <a:cs typeface="Calibri"/>
              <a:sym typeface="Calibri"/>
            </a:endParaRPr>
          </a:p>
        </p:txBody>
      </p:sp>
      <p:sp>
        <p:nvSpPr>
          <p:cNvPr id="74" name="Google Shape;74;p3"/>
          <p:cNvSpPr/>
          <p:nvPr/>
        </p:nvSpPr>
        <p:spPr>
          <a:xfrm>
            <a:off x="4617720" y="2194560"/>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txBox="1"/>
          <p:nvPr/>
        </p:nvSpPr>
        <p:spPr>
          <a:xfrm>
            <a:off x="4617720" y="2194560"/>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inventory_level</a:t>
            </a:r>
          </a:p>
        </p:txBody>
      </p:sp>
      <p:sp>
        <p:nvSpPr>
          <p:cNvPr id="76" name="Google Shape;76;p3"/>
          <p:cNvSpPr/>
          <p:nvPr/>
        </p:nvSpPr>
        <p:spPr>
          <a:xfrm>
            <a:off x="6217920" y="2194560"/>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txBox="1"/>
          <p:nvPr/>
        </p:nvSpPr>
        <p:spPr>
          <a:xfrm>
            <a:off x="6217920" y="2194560"/>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demand_forecast</a:t>
            </a:r>
          </a:p>
        </p:txBody>
      </p:sp>
      <p:sp>
        <p:nvSpPr>
          <p:cNvPr id="78" name="Google Shape;78;p3"/>
          <p:cNvSpPr/>
          <p:nvPr/>
        </p:nvSpPr>
        <p:spPr>
          <a:xfrm>
            <a:off x="4617720" y="2624328"/>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txBox="1"/>
          <p:nvPr/>
        </p:nvSpPr>
        <p:spPr>
          <a:xfrm>
            <a:off x="4617720" y="2624328"/>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units_ordered</a:t>
            </a:r>
          </a:p>
        </p:txBody>
      </p:sp>
      <p:sp>
        <p:nvSpPr>
          <p:cNvPr id="80" name="Google Shape;80;p3"/>
          <p:cNvSpPr/>
          <p:nvPr/>
        </p:nvSpPr>
        <p:spPr>
          <a:xfrm>
            <a:off x="6217920" y="2624328"/>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txBox="1"/>
          <p:nvPr/>
        </p:nvSpPr>
        <p:spPr>
          <a:xfrm>
            <a:off x="6217920" y="2624328"/>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price</a:t>
            </a:r>
          </a:p>
        </p:txBody>
      </p:sp>
      <p:sp>
        <p:nvSpPr>
          <p:cNvPr id="82" name="Google Shape;82;p3"/>
          <p:cNvSpPr/>
          <p:nvPr/>
        </p:nvSpPr>
        <p:spPr>
          <a:xfrm>
            <a:off x="4617720" y="3054096"/>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txBox="1"/>
          <p:nvPr/>
        </p:nvSpPr>
        <p:spPr>
          <a:xfrm>
            <a:off x="4617720" y="3054096"/>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discount</a:t>
            </a:r>
          </a:p>
        </p:txBody>
      </p:sp>
      <p:sp>
        <p:nvSpPr>
          <p:cNvPr id="84" name="Google Shape;84;p3"/>
          <p:cNvSpPr/>
          <p:nvPr/>
        </p:nvSpPr>
        <p:spPr>
          <a:xfrm>
            <a:off x="6217920" y="3054096"/>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txBox="1"/>
          <p:nvPr/>
        </p:nvSpPr>
        <p:spPr>
          <a:xfrm>
            <a:off x="6217920" y="3054096"/>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competitor_price</a:t>
            </a:r>
          </a:p>
        </p:txBody>
      </p:sp>
      <p:sp>
        <p:nvSpPr>
          <p:cNvPr id="86" name="Google Shape;86;p3"/>
          <p:cNvSpPr/>
          <p:nvPr/>
        </p:nvSpPr>
        <p:spPr>
          <a:xfrm>
            <a:off x="4617720" y="3483864"/>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txBox="1"/>
          <p:nvPr/>
        </p:nvSpPr>
        <p:spPr>
          <a:xfrm>
            <a:off x="4617720" y="3483864"/>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holiday_promo</a:t>
            </a:r>
          </a:p>
        </p:txBody>
      </p:sp>
      <p:sp>
        <p:nvSpPr>
          <p:cNvPr id="88" name="Google Shape;88;p3"/>
          <p:cNvSpPr/>
          <p:nvPr/>
        </p:nvSpPr>
        <p:spPr>
          <a:xfrm>
            <a:off x="6217920" y="3483864"/>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txBox="1"/>
          <p:nvPr/>
        </p:nvSpPr>
        <p:spPr>
          <a:xfrm>
            <a:off x="6217920" y="3483864"/>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store_id</a:t>
            </a:r>
          </a:p>
        </p:txBody>
      </p:sp>
      <p:sp>
        <p:nvSpPr>
          <p:cNvPr id="90" name="Google Shape;90;p3"/>
          <p:cNvSpPr/>
          <p:nvPr/>
        </p:nvSpPr>
        <p:spPr>
          <a:xfrm>
            <a:off x="4617720" y="3913632"/>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txBox="1"/>
          <p:nvPr/>
        </p:nvSpPr>
        <p:spPr>
          <a:xfrm>
            <a:off x="4617720" y="3913632"/>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product_id</a:t>
            </a:r>
          </a:p>
        </p:txBody>
      </p:sp>
      <p:sp>
        <p:nvSpPr>
          <p:cNvPr id="92" name="Google Shape;92;p3"/>
          <p:cNvSpPr/>
          <p:nvPr/>
        </p:nvSpPr>
        <p:spPr>
          <a:xfrm>
            <a:off x="6217920" y="3913632"/>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txBox="1"/>
          <p:nvPr/>
        </p:nvSpPr>
        <p:spPr>
          <a:xfrm>
            <a:off x="6217920" y="3913632"/>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category</a:t>
            </a:r>
          </a:p>
        </p:txBody>
      </p:sp>
      <p:sp>
        <p:nvSpPr>
          <p:cNvPr id="94" name="Google Shape;94;p3"/>
          <p:cNvSpPr/>
          <p:nvPr/>
        </p:nvSpPr>
        <p:spPr>
          <a:xfrm>
            <a:off x="4617720" y="4343400"/>
            <a:ext cx="1463040" cy="347472"/>
          </a:xfrm>
          <a:prstGeom prst="roundRect">
            <a:avLst>
              <a:gd name="adj" fmla="val 31579"/>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txBox="1"/>
          <p:nvPr/>
        </p:nvSpPr>
        <p:spPr>
          <a:xfrm>
            <a:off x="4617720" y="4343400"/>
            <a:ext cx="1463040" cy="347472"/>
          </a:xfrm>
          <a:prstGeom prst="rect">
            <a:avLst/>
          </a:prstGeom>
          <a:noFill/>
          <a:ln>
            <a:noFill/>
          </a:ln>
        </p:spPr>
        <p:txBody>
          <a:bodyPr spcFirstLastPara="1" wrap="square" lIns="0" tIns="0" rIns="0" bIns="0" anchor="ctr" anchorCtr="0">
            <a:noAutofit/>
          </a:bodyPr>
          <a:lstStyle/>
          <a:p>
            <a:pPr algn="ctr"/>
            <a:r>
              <a:rPr sz="1200" b="1">
                <a:solidFill>
                  <a:srgbClr val="1E293B"/>
                </a:solidFill>
                <a:latin typeface="Calibri"/>
              </a:rPr>
              <a:t>region</a:t>
            </a:r>
          </a:p>
        </p:txBody>
      </p:sp>
      <p:sp>
        <p:nvSpPr>
          <p:cNvPr id="96" name="Google Shape;96;p3"/>
          <p:cNvSpPr/>
          <p:nvPr/>
        </p:nvSpPr>
        <p:spPr>
          <a:xfrm>
            <a:off x="5897880" y="4846320"/>
            <a:ext cx="365760" cy="320040"/>
          </a:xfrm>
          <a:prstGeom prst="downArrow">
            <a:avLst>
              <a:gd name="adj1" fmla="val 50000"/>
              <a:gd name="adj2" fmla="val 50000"/>
            </a:avLst>
          </a:prstGeom>
          <a:solidFill>
            <a:srgbClr val="64748B"/>
          </a:solidFill>
          <a:ln w="12700" cap="flat" cmpd="sng">
            <a:solidFill>
              <a:srgbClr val="64748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617720" y="5257800"/>
            <a:ext cx="3108960" cy="594360"/>
          </a:xfrm>
          <a:prstGeom prst="roundRect">
            <a:avLst>
              <a:gd name="adj" fmla="val 18462"/>
            </a:avLst>
          </a:prstGeom>
          <a:solidFill>
            <a:srgbClr val="FCA311"/>
          </a:solidFill>
          <a:ln w="12700" cap="flat" cmpd="sng">
            <a:solidFill>
              <a:srgbClr val="FCA3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txBox="1"/>
          <p:nvPr/>
        </p:nvSpPr>
        <p:spPr>
          <a:xfrm>
            <a:off x="4617720" y="5257800"/>
            <a:ext cx="3108960" cy="594360"/>
          </a:xfrm>
          <a:prstGeom prst="rect">
            <a:avLst/>
          </a:prstGeom>
          <a:noFill/>
          <a:ln>
            <a:noFill/>
          </a:ln>
        </p:spPr>
        <p:txBody>
          <a:bodyPr spcFirstLastPara="1" wrap="square" lIns="0" tIns="0" rIns="0" bIns="0" anchor="ctr" anchorCtr="0">
            <a:noAutofit/>
          </a:bodyPr>
          <a:lstStyle/>
          <a:p>
            <a:pPr algn="ctr"/>
            <a:r>
              <a:rPr sz="1700" b="1">
                <a:solidFill>
                  <a:srgbClr val="FFFFFF"/>
                </a:solidFill>
                <a:latin typeface="Calibri"/>
              </a:rPr>
              <a:t>Units Sold (Daily Sales)</a:t>
            </a:r>
          </a:p>
        </p:txBody>
      </p:sp>
      <p:sp>
        <p:nvSpPr>
          <p:cNvPr id="99" name="Google Shape;99;p3"/>
          <p:cNvSpPr/>
          <p:nvPr/>
        </p:nvSpPr>
        <p:spPr>
          <a:xfrm>
            <a:off x="8321040" y="1371600"/>
            <a:ext cx="3291840" cy="4754880"/>
          </a:xfrm>
          <a:prstGeom prst="roundRect">
            <a:avLst>
              <a:gd name="adj" fmla="val 3333"/>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txBox="1"/>
          <p:nvPr/>
        </p:nvSpPr>
        <p:spPr>
          <a:xfrm>
            <a:off x="8595360" y="1600200"/>
            <a:ext cx="27432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000"/>
              <a:buFont typeface="Cambria"/>
              <a:buNone/>
            </a:pPr>
            <a:r>
              <a:rPr lang="en-US" sz="2000" b="1">
                <a:solidFill>
                  <a:srgbClr val="14213D"/>
                </a:solidFill>
                <a:latin typeface="Cambria"/>
                <a:ea typeface="Cambria"/>
                <a:cs typeface="Cambria"/>
                <a:sym typeface="Cambria"/>
              </a:rPr>
              <a:t>Models and metrics</a:t>
            </a:r>
            <a:endParaRPr sz="2000">
              <a:solidFill>
                <a:schemeClr val="dk1"/>
              </a:solidFill>
              <a:latin typeface="Calibri"/>
              <a:ea typeface="Calibri"/>
              <a:cs typeface="Calibri"/>
              <a:sym typeface="Calibri"/>
            </a:endParaRPr>
          </a:p>
        </p:txBody>
      </p:sp>
      <p:sp>
        <p:nvSpPr>
          <p:cNvPr id="101" name="Google Shape;101;p3"/>
          <p:cNvSpPr txBox="1"/>
          <p:nvPr/>
        </p:nvSpPr>
        <p:spPr>
          <a:xfrm>
            <a:off x="8595360" y="2194560"/>
            <a:ext cx="2743200" cy="3840480"/>
          </a:xfrm>
          <a:prstGeom prst="rect">
            <a:avLst/>
          </a:prstGeom>
          <a:noFill/>
          <a:ln>
            <a:noFill/>
          </a:ln>
        </p:spPr>
        <p:txBody>
          <a:bodyPr spcFirstLastPara="1" wrap="square" lIns="0" tIns="0" rIns="0" bIns="0" anchor="t" anchorCtr="0">
            <a:noAutofit/>
          </a:bodyPr>
          <a:lstStyle/>
          <a:p>
            <a:r>
              <a:rPr sz="1200" b="1">
                <a:solidFill>
                  <a:srgbClr val="A86400"/>
                </a:solidFill>
                <a:latin typeface="Calibri"/>
              </a:rPr>
              <a:t>POSSIBLE MODELS</a:t>
            </a:r>
          </a:p>
          <a:p>
            <a:r>
              <a:rPr sz="1400" b="0">
                <a:solidFill>
                  <a:srgbClr val="1E293B"/>
                </a:solidFill>
                <a:latin typeface="Calibri"/>
              </a:rPr>
              <a:t>• Linear Regression</a:t>
            </a:r>
          </a:p>
          <a:p>
            <a:r>
              <a:rPr sz="1400" b="0">
                <a:solidFill>
                  <a:srgbClr val="1E293B"/>
                </a:solidFill>
                <a:latin typeface="Calibri"/>
              </a:rPr>
              <a:t>• Decision Tree Regressor</a:t>
            </a:r>
          </a:p>
          <a:p>
            <a:r>
              <a:rPr sz="1400" b="0">
                <a:solidFill>
                  <a:srgbClr val="1E293B"/>
                </a:solidFill>
                <a:latin typeface="Calibri"/>
              </a:rPr>
              <a:t>• Random Forest Regressor</a:t>
            </a:r>
          </a:p>
          <a:p>
            <a:r>
              <a:rPr sz="1200" b="1">
                <a:solidFill>
                  <a:srgbClr val="A86400"/>
                </a:solidFill>
                <a:latin typeface="Calibri"/>
              </a:rPr>
              <a:t>
EVALUATION METRICS</a:t>
            </a:r>
          </a:p>
          <a:p>
            <a:r>
              <a:rPr sz="1400" b="0">
                <a:solidFill>
                  <a:srgbClr val="1E293B"/>
                </a:solidFill>
                <a:latin typeface="Calibri"/>
              </a:rPr>
              <a:t>• MAE: average error in units sold</a:t>
            </a:r>
          </a:p>
          <a:p>
            <a:r>
              <a:rPr sz="1400" b="0">
                <a:solidFill>
                  <a:srgbClr val="1E293B"/>
                </a:solidFill>
                <a:latin typeface="Calibri"/>
              </a:rPr>
              <a:t>• RMSE: penalizes large sales errors</a:t>
            </a:r>
          </a:p>
          <a:p>
            <a:r>
              <a:rPr sz="1400" b="0">
                <a:solidFill>
                  <a:srgbClr val="1E293B"/>
                </a:solidFill>
                <a:latin typeface="Calibri"/>
              </a:rPr>
              <a:t>• R²: share of sales variation explained</a:t>
            </a:r>
          </a:p>
        </p:txBody>
      </p:sp>
      <p:sp>
        <p:nvSpPr>
          <p:cNvPr id="102" name="Google Shape;102;p3"/>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3</a:t>
            </a:fld>
            <a:endParaRPr sz="1000">
              <a:solidFill>
                <a:srgbClr val="64748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p4"/>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ACTIVE LEARNING ASSIGNMENT</a:t>
            </a:r>
            <a:endParaRPr sz="1200">
              <a:solidFill>
                <a:schemeClr val="dk1"/>
              </a:solidFill>
              <a:latin typeface="Calibri"/>
              <a:ea typeface="Calibri"/>
              <a:cs typeface="Calibri"/>
              <a:sym typeface="Calibri"/>
            </a:endParaRPr>
          </a:p>
        </p:txBody>
      </p:sp>
      <p:sp>
        <p:nvSpPr>
          <p:cNvPr id="109" name="Google Shape;109;p4"/>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Descriptive Analytics</a:t>
            </a:r>
            <a:endParaRPr sz="3400">
              <a:solidFill>
                <a:schemeClr val="dk1"/>
              </a:solidFill>
              <a:latin typeface="Calibri"/>
              <a:ea typeface="Calibri"/>
              <a:cs typeface="Calibri"/>
              <a:sym typeface="Calibri"/>
            </a:endParaRPr>
          </a:p>
        </p:txBody>
      </p:sp>
      <p:sp>
        <p:nvSpPr>
          <p:cNvPr id="110" name="Google Shape;110;p4"/>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111" name="Google Shape;111;p4"/>
          <p:cNvSpPr/>
          <p:nvPr/>
        </p:nvSpPr>
        <p:spPr>
          <a:xfrm>
            <a:off x="548640" y="1371600"/>
            <a:ext cx="3291840" cy="1463040"/>
          </a:xfrm>
          <a:prstGeom prst="roundRect">
            <a:avLst>
              <a:gd name="adj" fmla="val 75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txBox="1"/>
          <p:nvPr/>
        </p:nvSpPr>
        <p:spPr>
          <a:xfrm>
            <a:off x="777240" y="1508760"/>
            <a:ext cx="283464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73,100</a:t>
            </a:r>
          </a:p>
        </p:txBody>
      </p:sp>
      <p:sp>
        <p:nvSpPr>
          <p:cNvPr id="113" name="Google Shape;113;p4"/>
          <p:cNvSpPr txBox="1"/>
          <p:nvPr/>
        </p:nvSpPr>
        <p:spPr>
          <a:xfrm>
            <a:off x="777240" y="2148840"/>
            <a:ext cx="283464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daily transaction records across 5 stores and 20 product SKUs</a:t>
            </a:r>
          </a:p>
        </p:txBody>
      </p:sp>
      <p:sp>
        <p:nvSpPr>
          <p:cNvPr id="114" name="Google Shape;114;p4"/>
          <p:cNvSpPr/>
          <p:nvPr/>
        </p:nvSpPr>
        <p:spPr>
          <a:xfrm>
            <a:off x="548640" y="3017520"/>
            <a:ext cx="3291840" cy="1463040"/>
          </a:xfrm>
          <a:prstGeom prst="roundRect">
            <a:avLst>
              <a:gd name="adj" fmla="val 75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txBox="1"/>
          <p:nvPr/>
        </p:nvSpPr>
        <p:spPr>
          <a:xfrm>
            <a:off x="777240" y="3154680"/>
            <a:ext cx="283464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136.5</a:t>
            </a:r>
          </a:p>
        </p:txBody>
      </p:sp>
      <p:sp>
        <p:nvSpPr>
          <p:cNvPr id="116" name="Google Shape;116;p4"/>
          <p:cNvSpPr txBox="1"/>
          <p:nvPr/>
        </p:nvSpPr>
        <p:spPr>
          <a:xfrm>
            <a:off x="777240" y="3794760"/>
            <a:ext cx="283464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mean units sold daily; median is 134 units, showing balanced sales</a:t>
            </a:r>
          </a:p>
        </p:txBody>
      </p:sp>
      <p:sp>
        <p:nvSpPr>
          <p:cNvPr id="117" name="Google Shape;117;p4"/>
          <p:cNvSpPr/>
          <p:nvPr/>
        </p:nvSpPr>
        <p:spPr>
          <a:xfrm>
            <a:off x="548640" y="4663440"/>
            <a:ext cx="3291840" cy="1463040"/>
          </a:xfrm>
          <a:prstGeom prst="roundRect">
            <a:avLst>
              <a:gd name="adj" fmla="val 75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txBox="1"/>
          <p:nvPr/>
        </p:nvSpPr>
        <p:spPr>
          <a:xfrm>
            <a:off x="777240" y="4800600"/>
            <a:ext cx="283464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+0.99</a:t>
            </a:r>
          </a:p>
        </p:txBody>
      </p:sp>
      <p:sp>
        <p:nvSpPr>
          <p:cNvPr id="119" name="Google Shape;119;p4"/>
          <p:cNvSpPr txBox="1"/>
          <p:nvPr/>
        </p:nvSpPr>
        <p:spPr>
          <a:xfrm>
            <a:off x="777240" y="5440680"/>
            <a:ext cx="283464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correlation of demand forecast with sales (inventory: ~0.00)</a:t>
            </a:r>
          </a:p>
        </p:txBody>
      </p:sp>
      <p:sp>
        <p:nvSpPr>
          <p:cNvPr id="120" name="Google Shape;120;p4"/>
          <p:cNvSpPr/>
          <p:nvPr/>
        </p:nvSpPr>
        <p:spPr>
          <a:xfrm>
            <a:off x="4206240" y="1325880"/>
            <a:ext cx="3611880" cy="1920240"/>
          </a:xfrm>
          <a:prstGeom prst="roundRect">
            <a:avLst>
              <a:gd name="adj" fmla="val 5714"/>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txBox="1"/>
          <p:nvPr/>
        </p:nvSpPr>
        <p:spPr>
          <a:xfrm>
            <a:off x="4206240" y="3291840"/>
            <a:ext cx="3611880" cy="45720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Histogram: inventory levels are evenly distributed across retail outlets (50 to 500 units).</a:t>
            </a:r>
          </a:p>
        </p:txBody>
      </p:sp>
      <p:sp>
        <p:nvSpPr>
          <p:cNvPr id="123" name="Google Shape;123;p4"/>
          <p:cNvSpPr/>
          <p:nvPr/>
        </p:nvSpPr>
        <p:spPr>
          <a:xfrm>
            <a:off x="8001000" y="1325880"/>
            <a:ext cx="3611880" cy="1920240"/>
          </a:xfrm>
          <a:prstGeom prst="roundRect">
            <a:avLst>
              <a:gd name="adj" fmla="val 5714"/>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txBox="1"/>
          <p:nvPr/>
        </p:nvSpPr>
        <p:spPr>
          <a:xfrm>
            <a:off x="8001000" y="3291840"/>
            <a:ext cx="3611880" cy="45720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Bar chart: inventory level (~275) comfortably covers daily store sales (~136).</a:t>
            </a:r>
          </a:p>
        </p:txBody>
      </p:sp>
      <p:sp>
        <p:nvSpPr>
          <p:cNvPr id="126" name="Google Shape;126;p4"/>
          <p:cNvSpPr/>
          <p:nvPr/>
        </p:nvSpPr>
        <p:spPr>
          <a:xfrm>
            <a:off x="4206240" y="3840480"/>
            <a:ext cx="3611880" cy="1920240"/>
          </a:xfrm>
          <a:prstGeom prst="roundRect">
            <a:avLst>
              <a:gd name="adj" fmla="val 5714"/>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txBox="1"/>
          <p:nvPr/>
        </p:nvSpPr>
        <p:spPr>
          <a:xfrm>
            <a:off x="4206240" y="5806440"/>
            <a:ext cx="3611880" cy="45720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Scatter plot: inventory level establishes an upper boundary envelope for units sold.</a:t>
            </a:r>
          </a:p>
        </p:txBody>
      </p:sp>
      <p:sp>
        <p:nvSpPr>
          <p:cNvPr id="129" name="Google Shape;129;p4"/>
          <p:cNvSpPr/>
          <p:nvPr/>
        </p:nvSpPr>
        <p:spPr>
          <a:xfrm>
            <a:off x="8001000" y="3840480"/>
            <a:ext cx="3611880" cy="1920240"/>
          </a:xfrm>
          <a:prstGeom prst="roundRect">
            <a:avLst>
              <a:gd name="adj" fmla="val 5714"/>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txBox="1"/>
          <p:nvPr/>
        </p:nvSpPr>
        <p:spPr>
          <a:xfrm>
            <a:off x="8001000" y="5806440"/>
            <a:ext cx="3611880" cy="45720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Heatmap: demand forecast and units sold show the highest correlation (+0.99).</a:t>
            </a:r>
          </a:p>
        </p:txBody>
      </p:sp>
      <p:sp>
        <p:nvSpPr>
          <p:cNvPr id="132" name="Google Shape;132;p4"/>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4</a:t>
            </a:fld>
            <a:endParaRPr sz="1000">
              <a:solidFill>
                <a:srgbClr val="64748B"/>
              </a:solidFill>
              <a:latin typeface="Calibri"/>
              <a:ea typeface="Calibri"/>
              <a:cs typeface="Calibri"/>
              <a:sym typeface="Calibri"/>
            </a:endParaRPr>
          </a:p>
        </p:txBody>
      </p:sp>
      <p:pic>
        <p:nvPicPr>
          <p:cNvPr id="133" name="Picture 132" descr="cell_9_out_0.png"/>
          <p:cNvPicPr>
            <a:picLocks noChangeAspect="1"/>
          </p:cNvPicPr>
          <p:nvPr/>
        </p:nvPicPr>
        <p:blipFill>
          <a:blip r:embed="rId3"/>
          <a:stretch>
            <a:fillRect/>
          </a:stretch>
        </p:blipFill>
        <p:spPr>
          <a:xfrm>
            <a:off x="4732985" y="1417320"/>
            <a:ext cx="2558391" cy="1737360"/>
          </a:xfrm>
          <a:prstGeom prst="rect">
            <a:avLst/>
          </a:prstGeom>
        </p:spPr>
      </p:pic>
      <p:pic>
        <p:nvPicPr>
          <p:cNvPr id="134" name="Picture 133" descr="cell_12_out_0.png"/>
          <p:cNvPicPr>
            <a:picLocks noChangeAspect="1"/>
          </p:cNvPicPr>
          <p:nvPr/>
        </p:nvPicPr>
        <p:blipFill>
          <a:blip r:embed="rId4"/>
          <a:stretch>
            <a:fillRect/>
          </a:stretch>
        </p:blipFill>
        <p:spPr>
          <a:xfrm>
            <a:off x="8656031" y="1417320"/>
            <a:ext cx="2301819" cy="1737360"/>
          </a:xfrm>
          <a:prstGeom prst="rect">
            <a:avLst/>
          </a:prstGeom>
        </p:spPr>
      </p:pic>
      <p:pic>
        <p:nvPicPr>
          <p:cNvPr id="135" name="Picture 134" descr="cell_13_out_0.png"/>
          <p:cNvPicPr>
            <a:picLocks noChangeAspect="1"/>
          </p:cNvPicPr>
          <p:nvPr/>
        </p:nvPicPr>
        <p:blipFill>
          <a:blip r:embed="rId5"/>
          <a:stretch>
            <a:fillRect/>
          </a:stretch>
        </p:blipFill>
        <p:spPr>
          <a:xfrm>
            <a:off x="4740315" y="3931920"/>
            <a:ext cx="2543730" cy="1737360"/>
          </a:xfrm>
          <a:prstGeom prst="rect">
            <a:avLst/>
          </a:prstGeom>
        </p:spPr>
      </p:pic>
      <p:pic>
        <p:nvPicPr>
          <p:cNvPr id="136" name="Picture 135" descr="cell_8_out_0.png"/>
          <p:cNvPicPr>
            <a:picLocks noChangeAspect="1"/>
          </p:cNvPicPr>
          <p:nvPr/>
        </p:nvPicPr>
        <p:blipFill>
          <a:blip r:embed="rId6"/>
          <a:stretch>
            <a:fillRect/>
          </a:stretch>
        </p:blipFill>
        <p:spPr>
          <a:xfrm>
            <a:off x="8776326" y="3931920"/>
            <a:ext cx="2061228" cy="1737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sp>
        <p:nvSpPr>
          <p:cNvPr id="138" name="Google Shape;138;p5"/>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ACTIVE LEARNING ASSIGNMENT</a:t>
            </a:r>
            <a:endParaRPr sz="1200">
              <a:solidFill>
                <a:schemeClr val="dk1"/>
              </a:solidFill>
              <a:latin typeface="Calibri"/>
              <a:ea typeface="Calibri"/>
              <a:cs typeface="Calibri"/>
              <a:sym typeface="Calibri"/>
            </a:endParaRPr>
          </a:p>
        </p:txBody>
      </p:sp>
      <p:sp>
        <p:nvSpPr>
          <p:cNvPr id="139" name="Google Shape;139;p5"/>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Differences and Project Connection</a:t>
            </a:r>
            <a:endParaRPr sz="3400">
              <a:solidFill>
                <a:schemeClr val="dk1"/>
              </a:solidFill>
              <a:latin typeface="Calibri"/>
              <a:ea typeface="Calibri"/>
              <a:cs typeface="Calibri"/>
              <a:sym typeface="Calibri"/>
            </a:endParaRPr>
          </a:p>
        </p:txBody>
      </p:sp>
      <p:sp>
        <p:nvSpPr>
          <p:cNvPr id="140" name="Google Shape;140;p5"/>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graphicFrame>
        <p:nvGraphicFramePr>
          <p:cNvPr id="141" name="Google Shape;141;p5"/>
          <p:cNvGraphicFramePr/>
          <p:nvPr/>
        </p:nvGraphicFramePr>
        <p:xfrm>
          <a:off x="548640" y="1371600"/>
          <a:ext cx="11064250" cy="2514625"/>
        </p:xfrm>
        <a:graphic>
          <a:graphicData uri="http://schemas.openxmlformats.org/drawingml/2006/table">
            <a:tbl>
              <a:tblPr>
                <a:noFill/>
                <a:tableStyleId>{96624263-CD6E-4E3E-AAE7-B132611AEFAC}</a:tableStyleId>
              </a:tblPr>
              <a:tblGrid>
                <a:gridCol w="19202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02925">
                <a:tc>
                  <a:txBody>
                    <a:bodyPr/>
                    <a:lstStyle/>
                    <a:p>
                      <a:pPr algn="l"/>
                      <a:r>
                        <a:rPr sz="1300" b="1">
                          <a:solidFill>
                            <a:srgbClr val="FFFFFF"/>
                          </a:solidFill>
                          <a:latin typeface="Calibri"/>
                        </a:rPr>
                        <a:t>Aspect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Descriptive analytics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Predictive analytics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extLst>
                  <a:ext uri="{0D108BD9-81ED-4DB2-BD59-A6C34878D82A}">
                    <a16:rowId xmlns:a16="http://schemas.microsoft.com/office/drawing/2014/main" val="10000"/>
                  </a:ext>
                </a:extLst>
              </a:tr>
              <a:tr h="502925">
                <a:tc>
                  <a:txBody>
                    <a:bodyPr/>
                    <a:lstStyle/>
                    <a:p>
                      <a:pPr algn="l"/>
                      <a:r>
                        <a:rPr sz="1250" b="1">
                          <a:solidFill>
                            <a:srgbClr val="1E293B"/>
                          </a:solidFill>
                          <a:latin typeface="Calibri"/>
                        </a:rPr>
                        <a:t>Core question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50" b="0">
                          <a:solidFill>
                            <a:srgbClr val="1E293B"/>
                          </a:solidFill>
                          <a:latin typeface="Calibri"/>
                        </a:rPr>
                        <a:t>What happened? How did items sell across stores?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50" b="0">
                          <a:solidFill>
                            <a:srgbClr val="1E293B"/>
                          </a:solidFill>
                          <a:latin typeface="Calibri"/>
                        </a:rPr>
                        <a:t>What will happen? How many units will sell tomorrow?</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1"/>
                  </a:ext>
                </a:extLst>
              </a:tr>
              <a:tr h="502925">
                <a:tc>
                  <a:txBody>
                    <a:bodyPr/>
                    <a:lstStyle/>
                    <a:p>
                      <a:pPr algn="l"/>
                      <a:r>
                        <a:rPr sz="1250" b="1">
                          <a:solidFill>
                            <a:srgbClr val="1E293B"/>
                          </a:solidFill>
                          <a:latin typeface="Calibri"/>
                        </a:rPr>
                        <a:t>Techniques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50" b="0">
                          <a:solidFill>
                            <a:srgbClr val="1E293B"/>
                          </a:solidFill>
                          <a:latin typeface="Calibri"/>
                        </a:rPr>
                        <a:t>Mean, median, distributions, bar charts, heatmaps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50" b="0">
                          <a:solidFill>
                            <a:srgbClr val="1E293B"/>
                          </a:solidFill>
                          <a:latin typeface="Calibri"/>
                        </a:rPr>
                        <a:t>Regression models, evaluated with MAE, RMSE and R²</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02925">
                <a:tc>
                  <a:txBody>
                    <a:bodyPr/>
                    <a:lstStyle/>
                    <a:p>
                      <a:pPr algn="l"/>
                      <a:r>
                        <a:rPr sz="1250" b="1">
                          <a:solidFill>
                            <a:srgbClr val="1E293B"/>
                          </a:solidFill>
                          <a:latin typeface="Calibri"/>
                        </a:rPr>
                        <a:t>In our project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50" b="0">
                          <a:solidFill>
                            <a:srgbClr val="1E293B"/>
                          </a:solidFill>
                          <a:latin typeface="Calibri"/>
                        </a:rPr>
                        <a:t>EDA: sales normality, inventory depth, store volume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50" b="0">
                          <a:solidFill>
                            <a:srgbClr val="1E293B"/>
                          </a:solidFill>
                          <a:latin typeface="Calibri"/>
                        </a:rPr>
                        <a:t>Random Forest: R² 0.994 &amp; RMSE 8.539 on unseen test data</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3"/>
                  </a:ext>
                </a:extLst>
              </a:tr>
              <a:tr h="502925">
                <a:tc>
                  <a:txBody>
                    <a:bodyPr/>
                    <a:lstStyle/>
                    <a:p>
                      <a:pPr algn="l"/>
                      <a:r>
                        <a:rPr sz="1250" b="1">
                          <a:solidFill>
                            <a:srgbClr val="1E293B"/>
                          </a:solidFill>
                          <a:latin typeface="Calibri"/>
                        </a:rPr>
                        <a:t>Purpose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50" b="0">
                          <a:solidFill>
                            <a:srgbClr val="1E293B"/>
                          </a:solidFill>
                          <a:latin typeface="Calibri"/>
                        </a:rPr>
                        <a:t>Understand retail data and verify stock hygiene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50" b="0">
                          <a:solidFill>
                            <a:srgbClr val="1E293B"/>
                          </a:solidFill>
                          <a:latin typeface="Calibri"/>
                        </a:rPr>
                        <a:t>Forecast daily product demand to optimize replenishment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142" name="Google Shape;142;p5"/>
          <p:cNvSpPr/>
          <p:nvPr/>
        </p:nvSpPr>
        <p:spPr>
          <a:xfrm>
            <a:off x="548640" y="4526280"/>
            <a:ext cx="2423160" cy="1463040"/>
          </a:xfrm>
          <a:prstGeom prst="roundRect">
            <a:avLst>
              <a:gd name="adj" fmla="val 7500"/>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txBox="1"/>
          <p:nvPr/>
        </p:nvSpPr>
        <p:spPr>
          <a:xfrm>
            <a:off x="731520" y="4663440"/>
            <a:ext cx="2057400" cy="411480"/>
          </a:xfrm>
          <a:prstGeom prst="rect">
            <a:avLst/>
          </a:prstGeom>
          <a:noFill/>
          <a:ln>
            <a:noFill/>
          </a:ln>
        </p:spPr>
        <p:txBody>
          <a:bodyPr spcFirstLastPara="1" wrap="square" lIns="0" tIns="0" rIns="0" bIns="0" anchor="t" anchorCtr="0">
            <a:noAutofit/>
          </a:bodyPr>
          <a:lstStyle/>
          <a:p>
            <a:pPr algn="ctr"/>
            <a:r>
              <a:rPr sz="1500" b="1">
                <a:solidFill>
                  <a:srgbClr val="FFFFFF"/>
                </a:solidFill>
                <a:latin typeface="Calibri"/>
              </a:rPr>
              <a:t>Retail Store data</a:t>
            </a:r>
          </a:p>
        </p:txBody>
      </p:sp>
      <p:sp>
        <p:nvSpPr>
          <p:cNvPr id="144" name="Google Shape;144;p5"/>
          <p:cNvSpPr txBox="1"/>
          <p:nvPr/>
        </p:nvSpPr>
        <p:spPr>
          <a:xfrm>
            <a:off x="731520" y="5166360"/>
            <a:ext cx="2057400" cy="685800"/>
          </a:xfrm>
          <a:prstGeom prst="rect">
            <a:avLst/>
          </a:prstGeom>
          <a:noFill/>
          <a:ln>
            <a:noFill/>
          </a:ln>
        </p:spPr>
        <p:txBody>
          <a:bodyPr spcFirstLastPara="1" wrap="square" lIns="0" tIns="0" rIns="0" bIns="0" anchor="t" anchorCtr="0">
            <a:noAutofit/>
          </a:bodyPr>
          <a:lstStyle/>
          <a:p>
            <a:pPr algn="ctr"/>
            <a:r>
              <a:rPr sz="1300" b="0">
                <a:solidFill>
                  <a:srgbClr val="CBD5E1"/>
                </a:solidFill>
                <a:latin typeface="Calibri"/>
              </a:rPr>
              <a:t>73,100 rows, 15 columns</a:t>
            </a:r>
          </a:p>
        </p:txBody>
      </p:sp>
      <p:sp>
        <p:nvSpPr>
          <p:cNvPr id="145" name="Google Shape;145;p5"/>
          <p:cNvSpPr txBox="1"/>
          <p:nvPr/>
        </p:nvSpPr>
        <p:spPr>
          <a:xfrm>
            <a:off x="2971800" y="4937760"/>
            <a:ext cx="4572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A86400"/>
              </a:buClr>
              <a:buSzPts val="2800"/>
              <a:buFont typeface="Calibri"/>
              <a:buNone/>
            </a:pPr>
            <a:r>
              <a:rPr lang="en-US" sz="2800" b="1">
                <a:solidFill>
                  <a:srgbClr val="A864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146" name="Google Shape;146;p5"/>
          <p:cNvSpPr/>
          <p:nvPr/>
        </p:nvSpPr>
        <p:spPr>
          <a:xfrm>
            <a:off x="3429000" y="4526280"/>
            <a:ext cx="2423160" cy="1463040"/>
          </a:xfrm>
          <a:prstGeom prst="roundRect">
            <a:avLst>
              <a:gd name="adj" fmla="val 7500"/>
            </a:avLst>
          </a:prstGeom>
          <a:solidFill>
            <a:srgbClr val="2A9D8F"/>
          </a:solidFill>
          <a:ln w="12700" cap="flat" cmpd="sng">
            <a:solidFill>
              <a:srgbClr val="2A9D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txBox="1"/>
          <p:nvPr/>
        </p:nvSpPr>
        <p:spPr>
          <a:xfrm>
            <a:off x="3611880" y="4663440"/>
            <a:ext cx="2057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000"/>
              <a:buFont typeface="Cambria"/>
              <a:buNone/>
            </a:pPr>
            <a:r>
              <a:rPr lang="en-US" sz="2000" b="1">
                <a:solidFill>
                  <a:srgbClr val="FFFFFF"/>
                </a:solidFill>
                <a:latin typeface="Cambria"/>
                <a:ea typeface="Cambria"/>
                <a:cs typeface="Cambria"/>
                <a:sym typeface="Cambria"/>
              </a:rPr>
              <a:t>Descriptive</a:t>
            </a:r>
            <a:endParaRPr sz="2000">
              <a:solidFill>
                <a:schemeClr val="dk1"/>
              </a:solidFill>
              <a:latin typeface="Calibri"/>
              <a:ea typeface="Calibri"/>
              <a:cs typeface="Calibri"/>
              <a:sym typeface="Calibri"/>
            </a:endParaRPr>
          </a:p>
        </p:txBody>
      </p:sp>
      <p:sp>
        <p:nvSpPr>
          <p:cNvPr id="148" name="Google Shape;148;p5"/>
          <p:cNvSpPr txBox="1"/>
          <p:nvPr/>
        </p:nvSpPr>
        <p:spPr>
          <a:xfrm>
            <a:off x="3611880" y="5166360"/>
            <a:ext cx="205740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1400"/>
              <a:buFont typeface="Calibri"/>
              <a:buNone/>
            </a:pPr>
            <a:r>
              <a:rPr lang="en-US" sz="1400">
                <a:solidFill>
                  <a:srgbClr val="FFFFFF"/>
                </a:solidFill>
                <a:latin typeface="Calibri"/>
                <a:ea typeface="Calibri"/>
                <a:cs typeface="Calibri"/>
                <a:sym typeface="Calibri"/>
              </a:rPr>
              <a:t>Clean data + EDA</a:t>
            </a:r>
            <a:endParaRPr sz="1400">
              <a:solidFill>
                <a:schemeClr val="dk1"/>
              </a:solidFill>
              <a:latin typeface="Calibri"/>
              <a:ea typeface="Calibri"/>
              <a:cs typeface="Calibri"/>
              <a:sym typeface="Calibri"/>
            </a:endParaRPr>
          </a:p>
        </p:txBody>
      </p:sp>
      <p:sp>
        <p:nvSpPr>
          <p:cNvPr id="149" name="Google Shape;149;p5"/>
          <p:cNvSpPr txBox="1"/>
          <p:nvPr/>
        </p:nvSpPr>
        <p:spPr>
          <a:xfrm>
            <a:off x="5852160" y="4937760"/>
            <a:ext cx="4572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A86400"/>
              </a:buClr>
              <a:buSzPts val="2800"/>
              <a:buFont typeface="Calibri"/>
              <a:buNone/>
            </a:pPr>
            <a:r>
              <a:rPr lang="en-US" sz="2800" b="1">
                <a:solidFill>
                  <a:srgbClr val="A864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150" name="Google Shape;150;p5"/>
          <p:cNvSpPr/>
          <p:nvPr/>
        </p:nvSpPr>
        <p:spPr>
          <a:xfrm>
            <a:off x="6309360" y="4526280"/>
            <a:ext cx="2423160" cy="1463040"/>
          </a:xfrm>
          <a:prstGeom prst="roundRect">
            <a:avLst>
              <a:gd name="adj" fmla="val 7500"/>
            </a:avLst>
          </a:prstGeom>
          <a:solidFill>
            <a:srgbClr val="FCA311"/>
          </a:solidFill>
          <a:ln w="12700" cap="flat" cmpd="sng">
            <a:solidFill>
              <a:srgbClr val="FCA3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txBox="1"/>
          <p:nvPr/>
        </p:nvSpPr>
        <p:spPr>
          <a:xfrm>
            <a:off x="6492240" y="4663440"/>
            <a:ext cx="2057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2000"/>
              <a:buFont typeface="Cambria"/>
              <a:buNone/>
            </a:pPr>
            <a:r>
              <a:rPr lang="en-US" sz="2000" b="1">
                <a:solidFill>
                  <a:srgbClr val="14213D"/>
                </a:solidFill>
                <a:latin typeface="Cambria"/>
                <a:ea typeface="Cambria"/>
                <a:cs typeface="Cambria"/>
                <a:sym typeface="Cambria"/>
              </a:rPr>
              <a:t>Predictive</a:t>
            </a:r>
            <a:endParaRPr sz="2000">
              <a:solidFill>
                <a:schemeClr val="dk1"/>
              </a:solidFill>
              <a:latin typeface="Calibri"/>
              <a:ea typeface="Calibri"/>
              <a:cs typeface="Calibri"/>
              <a:sym typeface="Calibri"/>
            </a:endParaRPr>
          </a:p>
        </p:txBody>
      </p:sp>
      <p:sp>
        <p:nvSpPr>
          <p:cNvPr id="152" name="Google Shape;152;p5"/>
          <p:cNvSpPr txBox="1"/>
          <p:nvPr/>
        </p:nvSpPr>
        <p:spPr>
          <a:xfrm>
            <a:off x="6492240" y="5166360"/>
            <a:ext cx="205740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400"/>
              <a:buFont typeface="Calibri"/>
              <a:buNone/>
            </a:pPr>
            <a:r>
              <a:rPr lang="en-US" sz="1400">
                <a:solidFill>
                  <a:srgbClr val="14213D"/>
                </a:solidFill>
                <a:latin typeface="Calibri"/>
                <a:ea typeface="Calibri"/>
                <a:cs typeface="Calibri"/>
                <a:sym typeface="Calibri"/>
              </a:rPr>
              <a:t>Train 3 regression models</a:t>
            </a:r>
            <a:endParaRPr sz="1400">
              <a:solidFill>
                <a:schemeClr val="dk1"/>
              </a:solidFill>
              <a:latin typeface="Calibri"/>
              <a:ea typeface="Calibri"/>
              <a:cs typeface="Calibri"/>
              <a:sym typeface="Calibri"/>
            </a:endParaRPr>
          </a:p>
        </p:txBody>
      </p:sp>
      <p:sp>
        <p:nvSpPr>
          <p:cNvPr id="153" name="Google Shape;153;p5"/>
          <p:cNvSpPr txBox="1"/>
          <p:nvPr/>
        </p:nvSpPr>
        <p:spPr>
          <a:xfrm>
            <a:off x="8732520" y="4937760"/>
            <a:ext cx="4572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A86400"/>
              </a:buClr>
              <a:buSzPts val="2800"/>
              <a:buFont typeface="Calibri"/>
              <a:buNone/>
            </a:pPr>
            <a:r>
              <a:rPr lang="en-US" sz="2800" b="1">
                <a:solidFill>
                  <a:srgbClr val="A86400"/>
                </a:solidFill>
                <a:latin typeface="Calibri"/>
                <a:ea typeface="Calibri"/>
                <a:cs typeface="Calibri"/>
                <a:sym typeface="Calibri"/>
              </a:rPr>
              <a:t>→</a:t>
            </a:r>
            <a:endParaRPr sz="2800">
              <a:solidFill>
                <a:schemeClr val="dk1"/>
              </a:solidFill>
              <a:latin typeface="Calibri"/>
              <a:ea typeface="Calibri"/>
              <a:cs typeface="Calibri"/>
              <a:sym typeface="Calibri"/>
            </a:endParaRPr>
          </a:p>
        </p:txBody>
      </p:sp>
      <p:sp>
        <p:nvSpPr>
          <p:cNvPr id="154" name="Google Shape;154;p5"/>
          <p:cNvSpPr/>
          <p:nvPr/>
        </p:nvSpPr>
        <p:spPr>
          <a:xfrm>
            <a:off x="9189720" y="4526280"/>
            <a:ext cx="2423160" cy="1463040"/>
          </a:xfrm>
          <a:prstGeom prst="roundRect">
            <a:avLst>
              <a:gd name="adj" fmla="val 7500"/>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txBox="1"/>
          <p:nvPr/>
        </p:nvSpPr>
        <p:spPr>
          <a:xfrm>
            <a:off x="9372600" y="4663440"/>
            <a:ext cx="2057400" cy="411480"/>
          </a:xfrm>
          <a:prstGeom prst="rect">
            <a:avLst/>
          </a:prstGeom>
          <a:noFill/>
          <a:ln>
            <a:noFill/>
          </a:ln>
        </p:spPr>
        <p:txBody>
          <a:bodyPr spcFirstLastPara="1" wrap="square" lIns="0" tIns="0" rIns="0" bIns="0" anchor="t" anchorCtr="0">
            <a:noAutofit/>
          </a:bodyPr>
          <a:lstStyle/>
          <a:p>
            <a:pPr algn="ctr"/>
            <a:r>
              <a:rPr sz="1500" b="1">
                <a:solidFill>
                  <a:srgbClr val="FFFFFF"/>
                </a:solidFill>
                <a:latin typeface="Calibri"/>
              </a:rPr>
              <a:t>Output</a:t>
            </a:r>
          </a:p>
        </p:txBody>
      </p:sp>
      <p:sp>
        <p:nvSpPr>
          <p:cNvPr id="156" name="Google Shape;156;p5"/>
          <p:cNvSpPr txBox="1"/>
          <p:nvPr/>
        </p:nvSpPr>
        <p:spPr>
          <a:xfrm>
            <a:off x="9372600" y="5166360"/>
            <a:ext cx="2057400" cy="685800"/>
          </a:xfrm>
          <a:prstGeom prst="rect">
            <a:avLst/>
          </a:prstGeom>
          <a:noFill/>
          <a:ln>
            <a:noFill/>
          </a:ln>
        </p:spPr>
        <p:txBody>
          <a:bodyPr spcFirstLastPara="1" wrap="square" lIns="0" tIns="0" rIns="0" bIns="0" anchor="t" anchorCtr="0">
            <a:noAutofit/>
          </a:bodyPr>
          <a:lstStyle/>
          <a:p>
            <a:pPr algn="ctr"/>
            <a:r>
              <a:rPr sz="1300" b="0">
                <a:solidFill>
                  <a:srgbClr val="CBD5E1"/>
                </a:solidFill>
                <a:latin typeface="Calibri"/>
              </a:rPr>
              <a:t>Predicted Units Sold</a:t>
            </a:r>
          </a:p>
        </p:txBody>
      </p:sp>
      <p:sp>
        <p:nvSpPr>
          <p:cNvPr id="157" name="Google Shape;157;p5"/>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5</a:t>
            </a:fld>
            <a:endParaRPr sz="1000">
              <a:solidFill>
                <a:srgbClr val="64748B"/>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6"/>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164" name="Google Shape;164;p6"/>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Introduction and Problem Statement</a:t>
            </a:r>
            <a:endParaRPr sz="3400">
              <a:solidFill>
                <a:schemeClr val="dk1"/>
              </a:solidFill>
              <a:latin typeface="Calibri"/>
              <a:ea typeface="Calibri"/>
              <a:cs typeface="Calibri"/>
              <a:sym typeface="Calibri"/>
            </a:endParaRPr>
          </a:p>
        </p:txBody>
      </p:sp>
      <p:sp>
        <p:nvSpPr>
          <p:cNvPr id="165" name="Google Shape;165;p6"/>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166" name="Google Shape;166;p6"/>
          <p:cNvSpPr/>
          <p:nvPr/>
        </p:nvSpPr>
        <p:spPr>
          <a:xfrm>
            <a:off x="548640" y="1371600"/>
            <a:ext cx="6675120" cy="2377440"/>
          </a:xfrm>
          <a:prstGeom prst="roundRect">
            <a:avLst>
              <a:gd name="adj" fmla="val 4615"/>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txBox="1"/>
          <p:nvPr/>
        </p:nvSpPr>
        <p:spPr>
          <a:xfrm>
            <a:off x="822960" y="1554480"/>
            <a:ext cx="6126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1200"/>
              <a:buFont typeface="Calibri"/>
              <a:buNone/>
            </a:pPr>
            <a:r>
              <a:rPr lang="en-US" sz="1200" b="1">
                <a:solidFill>
                  <a:srgbClr val="FCA311"/>
                </a:solidFill>
                <a:latin typeface="Calibri"/>
                <a:ea typeface="Calibri"/>
                <a:cs typeface="Calibri"/>
                <a:sym typeface="Calibri"/>
              </a:rPr>
              <a:t>PROBLEM STATEMENT</a:t>
            </a:r>
            <a:endParaRPr sz="1200">
              <a:solidFill>
                <a:schemeClr val="dk1"/>
              </a:solidFill>
              <a:latin typeface="Calibri"/>
              <a:ea typeface="Calibri"/>
              <a:cs typeface="Calibri"/>
              <a:sym typeface="Calibri"/>
            </a:endParaRPr>
          </a:p>
        </p:txBody>
      </p:sp>
      <p:sp>
        <p:nvSpPr>
          <p:cNvPr id="168" name="Google Shape;168;p6"/>
          <p:cNvSpPr txBox="1"/>
          <p:nvPr/>
        </p:nvSpPr>
        <p:spPr>
          <a:xfrm>
            <a:off x="822960" y="1920240"/>
            <a:ext cx="6126480" cy="1645920"/>
          </a:xfrm>
          <a:prstGeom prst="rect">
            <a:avLst/>
          </a:prstGeom>
          <a:noFill/>
          <a:ln>
            <a:noFill/>
          </a:ln>
        </p:spPr>
        <p:txBody>
          <a:bodyPr spcFirstLastPara="1" wrap="square" lIns="0" tIns="0" rIns="0" bIns="0" anchor="t" anchorCtr="0">
            <a:noAutofit/>
          </a:bodyPr>
          <a:lstStyle/>
          <a:p>
            <a:pPr algn="l"/>
            <a:r>
              <a:rPr sz="1700" b="0">
                <a:solidFill>
                  <a:srgbClr val="FFFFFF"/>
                </a:solidFill>
                <a:latin typeface="Calibri"/>
              </a:rPr>
              <a:t>Accurately forecast daily product sales (Units Sold) across multi-department retail outlets using historical demand, shelf inventory, promotional discounts, pricing, weather, and competitor signals.</a:t>
            </a:r>
          </a:p>
        </p:txBody>
      </p:sp>
      <p:sp>
        <p:nvSpPr>
          <p:cNvPr id="169" name="Google Shape;169;p6"/>
          <p:cNvSpPr/>
          <p:nvPr/>
        </p:nvSpPr>
        <p:spPr>
          <a:xfrm>
            <a:off x="7498080" y="1371600"/>
            <a:ext cx="4114800" cy="731520"/>
          </a:xfrm>
          <a:prstGeom prst="roundRect">
            <a:avLst>
              <a:gd name="adj" fmla="val 15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6"/>
          <p:cNvSpPr txBox="1"/>
          <p:nvPr/>
        </p:nvSpPr>
        <p:spPr>
          <a:xfrm>
            <a:off x="7726680" y="1463040"/>
            <a:ext cx="36576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100"/>
              <a:buFont typeface="Calibri"/>
              <a:buNone/>
            </a:pPr>
            <a:r>
              <a:rPr lang="en-US" sz="1100" b="1">
                <a:solidFill>
                  <a:srgbClr val="A86400"/>
                </a:solidFill>
                <a:latin typeface="Calibri"/>
                <a:ea typeface="Calibri"/>
                <a:cs typeface="Calibri"/>
                <a:sym typeface="Calibri"/>
              </a:rPr>
              <a:t>PROBLEM TYPE</a:t>
            </a:r>
            <a:endParaRPr sz="1100">
              <a:solidFill>
                <a:schemeClr val="dk1"/>
              </a:solidFill>
              <a:latin typeface="Calibri"/>
              <a:ea typeface="Calibri"/>
              <a:cs typeface="Calibri"/>
              <a:sym typeface="Calibri"/>
            </a:endParaRPr>
          </a:p>
        </p:txBody>
      </p:sp>
      <p:sp>
        <p:nvSpPr>
          <p:cNvPr id="171" name="Google Shape;171;p6"/>
          <p:cNvSpPr txBox="1"/>
          <p:nvPr/>
        </p:nvSpPr>
        <p:spPr>
          <a:xfrm>
            <a:off x="7726680" y="1719072"/>
            <a:ext cx="36576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700"/>
              <a:buFont typeface="Calibri"/>
              <a:buNone/>
            </a:pPr>
            <a:r>
              <a:rPr lang="en-US" sz="1700" b="1">
                <a:solidFill>
                  <a:srgbClr val="14213D"/>
                </a:solidFill>
                <a:latin typeface="Calibri"/>
                <a:ea typeface="Calibri"/>
                <a:cs typeface="Calibri"/>
                <a:sym typeface="Calibri"/>
              </a:rPr>
              <a:t>Regression</a:t>
            </a:r>
            <a:endParaRPr sz="1700">
              <a:solidFill>
                <a:schemeClr val="dk1"/>
              </a:solidFill>
              <a:latin typeface="Calibri"/>
              <a:ea typeface="Calibri"/>
              <a:cs typeface="Calibri"/>
              <a:sym typeface="Calibri"/>
            </a:endParaRPr>
          </a:p>
        </p:txBody>
      </p:sp>
      <p:sp>
        <p:nvSpPr>
          <p:cNvPr id="172" name="Google Shape;172;p6"/>
          <p:cNvSpPr/>
          <p:nvPr/>
        </p:nvSpPr>
        <p:spPr>
          <a:xfrm>
            <a:off x="7498080" y="2194560"/>
            <a:ext cx="4114800" cy="731520"/>
          </a:xfrm>
          <a:prstGeom prst="roundRect">
            <a:avLst>
              <a:gd name="adj" fmla="val 15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txBox="1"/>
          <p:nvPr/>
        </p:nvSpPr>
        <p:spPr>
          <a:xfrm>
            <a:off x="7726680" y="2286000"/>
            <a:ext cx="36576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100"/>
              <a:buFont typeface="Calibri"/>
              <a:buNone/>
            </a:pPr>
            <a:r>
              <a:rPr lang="en-US" sz="1100" b="1">
                <a:solidFill>
                  <a:srgbClr val="A86400"/>
                </a:solidFill>
                <a:latin typeface="Calibri"/>
                <a:ea typeface="Calibri"/>
                <a:cs typeface="Calibri"/>
                <a:sym typeface="Calibri"/>
              </a:rPr>
              <a:t>TARGET VARIABLE</a:t>
            </a:r>
            <a:endParaRPr sz="1100">
              <a:solidFill>
                <a:schemeClr val="dk1"/>
              </a:solidFill>
              <a:latin typeface="Calibri"/>
              <a:ea typeface="Calibri"/>
              <a:cs typeface="Calibri"/>
              <a:sym typeface="Calibri"/>
            </a:endParaRPr>
          </a:p>
        </p:txBody>
      </p:sp>
      <p:sp>
        <p:nvSpPr>
          <p:cNvPr id="174" name="Google Shape;174;p6"/>
          <p:cNvSpPr txBox="1"/>
          <p:nvPr/>
        </p:nvSpPr>
        <p:spPr>
          <a:xfrm>
            <a:off x="7726680" y="2542032"/>
            <a:ext cx="3657600" cy="320040"/>
          </a:xfrm>
          <a:prstGeom prst="rect">
            <a:avLst/>
          </a:prstGeom>
          <a:noFill/>
          <a:ln>
            <a:noFill/>
          </a:ln>
        </p:spPr>
        <p:txBody>
          <a:bodyPr spcFirstLastPara="1" wrap="square" lIns="0" tIns="0" rIns="0" bIns="0" anchor="t" anchorCtr="0">
            <a:noAutofit/>
          </a:bodyPr>
          <a:lstStyle/>
          <a:p>
            <a:pPr algn="l"/>
            <a:r>
              <a:rPr sz="1600" b="1">
                <a:solidFill>
                  <a:srgbClr val="1E293B"/>
                </a:solidFill>
                <a:latin typeface="Calibri"/>
              </a:rPr>
              <a:t>Units Sold</a:t>
            </a:r>
          </a:p>
        </p:txBody>
      </p:sp>
      <p:sp>
        <p:nvSpPr>
          <p:cNvPr id="175" name="Google Shape;175;p6"/>
          <p:cNvSpPr/>
          <p:nvPr/>
        </p:nvSpPr>
        <p:spPr>
          <a:xfrm>
            <a:off x="7498080" y="3017520"/>
            <a:ext cx="4114800" cy="731520"/>
          </a:xfrm>
          <a:prstGeom prst="roundRect">
            <a:avLst>
              <a:gd name="adj" fmla="val 15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6"/>
          <p:cNvSpPr txBox="1"/>
          <p:nvPr/>
        </p:nvSpPr>
        <p:spPr>
          <a:xfrm>
            <a:off x="7726680" y="3108960"/>
            <a:ext cx="36576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100"/>
              <a:buFont typeface="Calibri"/>
              <a:buNone/>
            </a:pPr>
            <a:r>
              <a:rPr lang="en-US" sz="1100" b="1">
                <a:solidFill>
                  <a:srgbClr val="A86400"/>
                </a:solidFill>
                <a:latin typeface="Calibri"/>
                <a:ea typeface="Calibri"/>
                <a:cs typeface="Calibri"/>
                <a:sym typeface="Calibri"/>
              </a:rPr>
              <a:t>DATASET</a:t>
            </a:r>
            <a:endParaRPr sz="1100">
              <a:solidFill>
                <a:schemeClr val="dk1"/>
              </a:solidFill>
              <a:latin typeface="Calibri"/>
              <a:ea typeface="Calibri"/>
              <a:cs typeface="Calibri"/>
              <a:sym typeface="Calibri"/>
            </a:endParaRPr>
          </a:p>
        </p:txBody>
      </p:sp>
      <p:sp>
        <p:nvSpPr>
          <p:cNvPr id="177" name="Google Shape;177;p6"/>
          <p:cNvSpPr txBox="1"/>
          <p:nvPr/>
        </p:nvSpPr>
        <p:spPr>
          <a:xfrm>
            <a:off x="7726680" y="3364992"/>
            <a:ext cx="3657600" cy="320040"/>
          </a:xfrm>
          <a:prstGeom prst="rect">
            <a:avLst/>
          </a:prstGeom>
          <a:noFill/>
          <a:ln>
            <a:noFill/>
          </a:ln>
        </p:spPr>
        <p:txBody>
          <a:bodyPr spcFirstLastPara="1" wrap="square" lIns="0" tIns="0" rIns="0" bIns="0" anchor="t" anchorCtr="0">
            <a:noAutofit/>
          </a:bodyPr>
          <a:lstStyle/>
          <a:p>
            <a:pPr algn="l"/>
            <a:r>
              <a:rPr sz="1600" b="1">
                <a:solidFill>
                  <a:srgbClr val="1E293B"/>
                </a:solidFill>
                <a:latin typeface="Calibri"/>
              </a:rPr>
              <a:t>Retail Store Inventory (Kaggle)</a:t>
            </a:r>
          </a:p>
        </p:txBody>
      </p:sp>
      <p:sp>
        <p:nvSpPr>
          <p:cNvPr id="178" name="Google Shape;178;p6"/>
          <p:cNvSpPr txBox="1"/>
          <p:nvPr/>
        </p:nvSpPr>
        <p:spPr>
          <a:xfrm>
            <a:off x="548640" y="4023360"/>
            <a:ext cx="11064240" cy="3657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Why it matters: stock-outs lose valuable revenue while excess inventory locks up capital in warehousing.</a:t>
            </a:r>
          </a:p>
        </p:txBody>
      </p:sp>
      <p:cxnSp>
        <p:nvCxnSpPr>
          <p:cNvPr id="179" name="Google Shape;179;p6"/>
          <p:cNvCxnSpPr/>
          <p:nvPr/>
        </p:nvCxnSpPr>
        <p:spPr>
          <a:xfrm>
            <a:off x="1280160" y="5074920"/>
            <a:ext cx="9601200" cy="0"/>
          </a:xfrm>
          <a:prstGeom prst="straightConnector1">
            <a:avLst/>
          </a:prstGeom>
          <a:noFill/>
          <a:ln w="25400" cap="flat" cmpd="sng">
            <a:solidFill>
              <a:srgbClr val="CBD5E1"/>
            </a:solidFill>
            <a:prstDash val="solid"/>
            <a:round/>
            <a:headEnd type="none" w="sm" len="sm"/>
            <a:tailEnd type="none" w="sm" len="sm"/>
          </a:ln>
        </p:spPr>
      </p:cxnSp>
      <p:sp>
        <p:nvSpPr>
          <p:cNvPr id="180" name="Google Shape;180;p6"/>
          <p:cNvSpPr/>
          <p:nvPr/>
        </p:nvSpPr>
        <p:spPr>
          <a:xfrm>
            <a:off x="914400" y="4754880"/>
            <a:ext cx="640080" cy="64008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91440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a:t>
            </a:r>
            <a:endParaRPr sz="1600">
              <a:solidFill>
                <a:schemeClr val="dk1"/>
              </a:solidFill>
              <a:latin typeface="Calibri"/>
              <a:ea typeface="Calibri"/>
              <a:cs typeface="Calibri"/>
              <a:sym typeface="Calibri"/>
            </a:endParaRPr>
          </a:p>
        </p:txBody>
      </p:sp>
      <p:sp>
        <p:nvSpPr>
          <p:cNvPr id="182" name="Google Shape;182;p6"/>
          <p:cNvSpPr txBox="1"/>
          <p:nvPr/>
        </p:nvSpPr>
        <p:spPr>
          <a:xfrm>
            <a:off x="45720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Load</a:t>
            </a:r>
            <a:endParaRPr sz="1500">
              <a:solidFill>
                <a:schemeClr val="dk1"/>
              </a:solidFill>
              <a:latin typeface="Calibri"/>
              <a:ea typeface="Calibri"/>
              <a:cs typeface="Calibri"/>
              <a:sym typeface="Calibri"/>
            </a:endParaRPr>
          </a:p>
        </p:txBody>
      </p:sp>
      <p:sp>
        <p:nvSpPr>
          <p:cNvPr id="183" name="Google Shape;183;p6"/>
          <p:cNvSpPr/>
          <p:nvPr/>
        </p:nvSpPr>
        <p:spPr>
          <a:xfrm>
            <a:off x="2834640" y="4754880"/>
            <a:ext cx="640080" cy="64008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txBox="1"/>
          <p:nvPr/>
        </p:nvSpPr>
        <p:spPr>
          <a:xfrm>
            <a:off x="283464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2</a:t>
            </a:r>
            <a:endParaRPr sz="1600">
              <a:solidFill>
                <a:schemeClr val="dk1"/>
              </a:solidFill>
              <a:latin typeface="Calibri"/>
              <a:ea typeface="Calibri"/>
              <a:cs typeface="Calibri"/>
              <a:sym typeface="Calibri"/>
            </a:endParaRPr>
          </a:p>
        </p:txBody>
      </p:sp>
      <p:sp>
        <p:nvSpPr>
          <p:cNvPr id="185" name="Google Shape;185;p6"/>
          <p:cNvSpPr txBox="1"/>
          <p:nvPr/>
        </p:nvSpPr>
        <p:spPr>
          <a:xfrm>
            <a:off x="237744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Clean</a:t>
            </a:r>
            <a:endParaRPr sz="1500">
              <a:solidFill>
                <a:schemeClr val="dk1"/>
              </a:solidFill>
              <a:latin typeface="Calibri"/>
              <a:ea typeface="Calibri"/>
              <a:cs typeface="Calibri"/>
              <a:sym typeface="Calibri"/>
            </a:endParaRPr>
          </a:p>
        </p:txBody>
      </p:sp>
      <p:sp>
        <p:nvSpPr>
          <p:cNvPr id="186" name="Google Shape;186;p6"/>
          <p:cNvSpPr/>
          <p:nvPr/>
        </p:nvSpPr>
        <p:spPr>
          <a:xfrm>
            <a:off x="4754880" y="4754880"/>
            <a:ext cx="640080" cy="64008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475488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3</a:t>
            </a:r>
            <a:endParaRPr sz="1600">
              <a:solidFill>
                <a:schemeClr val="dk1"/>
              </a:solidFill>
              <a:latin typeface="Calibri"/>
              <a:ea typeface="Calibri"/>
              <a:cs typeface="Calibri"/>
              <a:sym typeface="Calibri"/>
            </a:endParaRPr>
          </a:p>
        </p:txBody>
      </p:sp>
      <p:sp>
        <p:nvSpPr>
          <p:cNvPr id="188" name="Google Shape;188;p6"/>
          <p:cNvSpPr txBox="1"/>
          <p:nvPr/>
        </p:nvSpPr>
        <p:spPr>
          <a:xfrm>
            <a:off x="429768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EDA</a:t>
            </a:r>
            <a:endParaRPr sz="1500">
              <a:solidFill>
                <a:schemeClr val="dk1"/>
              </a:solidFill>
              <a:latin typeface="Calibri"/>
              <a:ea typeface="Calibri"/>
              <a:cs typeface="Calibri"/>
              <a:sym typeface="Calibri"/>
            </a:endParaRPr>
          </a:p>
        </p:txBody>
      </p:sp>
      <p:sp>
        <p:nvSpPr>
          <p:cNvPr id="189" name="Google Shape;189;p6"/>
          <p:cNvSpPr/>
          <p:nvPr/>
        </p:nvSpPr>
        <p:spPr>
          <a:xfrm>
            <a:off x="6675120" y="4754880"/>
            <a:ext cx="640080" cy="640080"/>
          </a:xfrm>
          <a:prstGeom prst="ellipse">
            <a:avLst/>
          </a:prstGeom>
          <a:solidFill>
            <a:srgbClr val="FCA311"/>
          </a:solidFill>
          <a:ln w="12700" cap="flat" cmpd="sng">
            <a:solidFill>
              <a:srgbClr val="FCA3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txBox="1"/>
          <p:nvPr/>
        </p:nvSpPr>
        <p:spPr>
          <a:xfrm>
            <a:off x="667512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213D"/>
              </a:buClr>
              <a:buSzPts val="1600"/>
              <a:buFont typeface="Cambria"/>
              <a:buNone/>
            </a:pPr>
            <a:r>
              <a:rPr lang="en-US" sz="1600" b="1">
                <a:solidFill>
                  <a:srgbClr val="14213D"/>
                </a:solidFill>
                <a:latin typeface="Cambria"/>
                <a:ea typeface="Cambria"/>
                <a:cs typeface="Cambria"/>
                <a:sym typeface="Cambria"/>
              </a:rPr>
              <a:t>4</a:t>
            </a:r>
            <a:endParaRPr sz="1600">
              <a:solidFill>
                <a:schemeClr val="dk1"/>
              </a:solidFill>
              <a:latin typeface="Calibri"/>
              <a:ea typeface="Calibri"/>
              <a:cs typeface="Calibri"/>
              <a:sym typeface="Calibri"/>
            </a:endParaRPr>
          </a:p>
        </p:txBody>
      </p:sp>
      <p:sp>
        <p:nvSpPr>
          <p:cNvPr id="191" name="Google Shape;191;p6"/>
          <p:cNvSpPr txBox="1"/>
          <p:nvPr/>
        </p:nvSpPr>
        <p:spPr>
          <a:xfrm>
            <a:off x="621792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Model</a:t>
            </a:r>
            <a:endParaRPr sz="1500">
              <a:solidFill>
                <a:schemeClr val="dk1"/>
              </a:solidFill>
              <a:latin typeface="Calibri"/>
              <a:ea typeface="Calibri"/>
              <a:cs typeface="Calibri"/>
              <a:sym typeface="Calibri"/>
            </a:endParaRPr>
          </a:p>
        </p:txBody>
      </p:sp>
      <p:sp>
        <p:nvSpPr>
          <p:cNvPr id="192" name="Google Shape;192;p6"/>
          <p:cNvSpPr/>
          <p:nvPr/>
        </p:nvSpPr>
        <p:spPr>
          <a:xfrm>
            <a:off x="8595360" y="4754880"/>
            <a:ext cx="640080" cy="64008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txBox="1"/>
          <p:nvPr/>
        </p:nvSpPr>
        <p:spPr>
          <a:xfrm>
            <a:off x="859536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5</a:t>
            </a:r>
            <a:endParaRPr sz="1600">
              <a:solidFill>
                <a:schemeClr val="dk1"/>
              </a:solidFill>
              <a:latin typeface="Calibri"/>
              <a:ea typeface="Calibri"/>
              <a:cs typeface="Calibri"/>
              <a:sym typeface="Calibri"/>
            </a:endParaRPr>
          </a:p>
        </p:txBody>
      </p:sp>
      <p:sp>
        <p:nvSpPr>
          <p:cNvPr id="194" name="Google Shape;194;p6"/>
          <p:cNvSpPr txBox="1"/>
          <p:nvPr/>
        </p:nvSpPr>
        <p:spPr>
          <a:xfrm>
            <a:off x="813816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Evaluate</a:t>
            </a:r>
            <a:endParaRPr sz="1500">
              <a:solidFill>
                <a:schemeClr val="dk1"/>
              </a:solidFill>
              <a:latin typeface="Calibri"/>
              <a:ea typeface="Calibri"/>
              <a:cs typeface="Calibri"/>
              <a:sym typeface="Calibri"/>
            </a:endParaRPr>
          </a:p>
        </p:txBody>
      </p:sp>
      <p:sp>
        <p:nvSpPr>
          <p:cNvPr id="195" name="Google Shape;195;p6"/>
          <p:cNvSpPr/>
          <p:nvPr/>
        </p:nvSpPr>
        <p:spPr>
          <a:xfrm>
            <a:off x="10515600" y="4754880"/>
            <a:ext cx="640080" cy="64008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txBox="1"/>
          <p:nvPr/>
        </p:nvSpPr>
        <p:spPr>
          <a:xfrm>
            <a:off x="10515600" y="475488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6</a:t>
            </a:r>
            <a:endParaRPr sz="1600">
              <a:solidFill>
                <a:schemeClr val="dk1"/>
              </a:solidFill>
              <a:latin typeface="Calibri"/>
              <a:ea typeface="Calibri"/>
              <a:cs typeface="Calibri"/>
              <a:sym typeface="Calibri"/>
            </a:endParaRPr>
          </a:p>
        </p:txBody>
      </p:sp>
      <p:sp>
        <p:nvSpPr>
          <p:cNvPr id="197" name="Google Shape;197;p6"/>
          <p:cNvSpPr txBox="1"/>
          <p:nvPr/>
        </p:nvSpPr>
        <p:spPr>
          <a:xfrm>
            <a:off x="10058400" y="5532120"/>
            <a:ext cx="155448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4213D"/>
              </a:buClr>
              <a:buSzPts val="1500"/>
              <a:buFont typeface="Calibri"/>
              <a:buNone/>
            </a:pPr>
            <a:r>
              <a:rPr lang="en-US" sz="1500" b="1">
                <a:solidFill>
                  <a:srgbClr val="14213D"/>
                </a:solidFill>
                <a:latin typeface="Calibri"/>
                <a:ea typeface="Calibri"/>
                <a:cs typeface="Calibri"/>
                <a:sym typeface="Calibri"/>
              </a:rPr>
              <a:t>Interpret</a:t>
            </a:r>
            <a:endParaRPr sz="1500">
              <a:solidFill>
                <a:schemeClr val="dk1"/>
              </a:solidFill>
              <a:latin typeface="Calibri"/>
              <a:ea typeface="Calibri"/>
              <a:cs typeface="Calibri"/>
              <a:sym typeface="Calibri"/>
            </a:endParaRPr>
          </a:p>
        </p:txBody>
      </p:sp>
      <p:sp>
        <p:nvSpPr>
          <p:cNvPr id="198" name="Google Shape;198;p6"/>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6</a:t>
            </a:fld>
            <a:endParaRPr sz="1000">
              <a:solidFill>
                <a:srgbClr val="64748B"/>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p7"/>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205" name="Google Shape;205;p7"/>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Dataset Description</a:t>
            </a:r>
            <a:endParaRPr sz="3400">
              <a:solidFill>
                <a:schemeClr val="dk1"/>
              </a:solidFill>
              <a:latin typeface="Calibri"/>
              <a:ea typeface="Calibri"/>
              <a:cs typeface="Calibri"/>
              <a:sym typeface="Calibri"/>
            </a:endParaRPr>
          </a:p>
        </p:txBody>
      </p:sp>
      <p:sp>
        <p:nvSpPr>
          <p:cNvPr id="206" name="Google Shape;206;p7"/>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207" name="Google Shape;207;p7"/>
          <p:cNvSpPr/>
          <p:nvPr/>
        </p:nvSpPr>
        <p:spPr>
          <a:xfrm>
            <a:off x="548640" y="1371600"/>
            <a:ext cx="3017520" cy="1371600"/>
          </a:xfrm>
          <a:prstGeom prst="roundRect">
            <a:avLst>
              <a:gd name="adj" fmla="val 8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txBox="1"/>
          <p:nvPr/>
        </p:nvSpPr>
        <p:spPr>
          <a:xfrm>
            <a:off x="777240" y="1508760"/>
            <a:ext cx="256032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73,100</a:t>
            </a:r>
          </a:p>
        </p:txBody>
      </p:sp>
      <p:sp>
        <p:nvSpPr>
          <p:cNvPr id="209" name="Google Shape;209;p7"/>
          <p:cNvSpPr txBox="1"/>
          <p:nvPr/>
        </p:nvSpPr>
        <p:spPr>
          <a:xfrm>
            <a:off x="777240" y="2148840"/>
            <a:ext cx="2560320" cy="50292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rows in the raw Retail Store inventory dataset</a:t>
            </a:r>
          </a:p>
        </p:txBody>
      </p:sp>
      <p:sp>
        <p:nvSpPr>
          <p:cNvPr id="210" name="Google Shape;210;p7"/>
          <p:cNvSpPr/>
          <p:nvPr/>
        </p:nvSpPr>
        <p:spPr>
          <a:xfrm>
            <a:off x="548640" y="2926080"/>
            <a:ext cx="3017520" cy="1371600"/>
          </a:xfrm>
          <a:prstGeom prst="roundRect">
            <a:avLst>
              <a:gd name="adj" fmla="val 8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txBox="1"/>
          <p:nvPr/>
        </p:nvSpPr>
        <p:spPr>
          <a:xfrm>
            <a:off x="777240" y="3063240"/>
            <a:ext cx="256032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15</a:t>
            </a:r>
          </a:p>
        </p:txBody>
      </p:sp>
      <p:sp>
        <p:nvSpPr>
          <p:cNvPr id="212" name="Google Shape;212;p7"/>
          <p:cNvSpPr txBox="1"/>
          <p:nvPr/>
        </p:nvSpPr>
        <p:spPr>
          <a:xfrm>
            <a:off x="777240" y="3703320"/>
            <a:ext cx="2560320" cy="50292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columns: 14 feature inputs and 1 target</a:t>
            </a:r>
          </a:p>
        </p:txBody>
      </p:sp>
      <p:sp>
        <p:nvSpPr>
          <p:cNvPr id="213" name="Google Shape;213;p7"/>
          <p:cNvSpPr/>
          <p:nvPr/>
        </p:nvSpPr>
        <p:spPr>
          <a:xfrm>
            <a:off x="548640" y="4480560"/>
            <a:ext cx="3017520" cy="1645920"/>
          </a:xfrm>
          <a:prstGeom prst="roundRect">
            <a:avLst>
              <a:gd name="adj" fmla="val 6667"/>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txBox="1"/>
          <p:nvPr/>
        </p:nvSpPr>
        <p:spPr>
          <a:xfrm>
            <a:off x="777240" y="4617720"/>
            <a:ext cx="25603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1100"/>
              <a:buFont typeface="Calibri"/>
              <a:buNone/>
            </a:pPr>
            <a:r>
              <a:rPr lang="en-US" sz="1100" b="1">
                <a:solidFill>
                  <a:srgbClr val="FCA311"/>
                </a:solidFill>
                <a:latin typeface="Calibri"/>
                <a:ea typeface="Calibri"/>
                <a:cs typeface="Calibri"/>
                <a:sym typeface="Calibri"/>
              </a:rPr>
              <a:t>Source</a:t>
            </a:r>
            <a:endParaRPr sz="1100">
              <a:solidFill>
                <a:schemeClr val="dk1"/>
              </a:solidFill>
              <a:latin typeface="Calibri"/>
              <a:ea typeface="Calibri"/>
              <a:cs typeface="Calibri"/>
              <a:sym typeface="Calibri"/>
            </a:endParaRPr>
          </a:p>
        </p:txBody>
      </p:sp>
      <p:sp>
        <p:nvSpPr>
          <p:cNvPr id="215" name="Google Shape;215;p7"/>
          <p:cNvSpPr txBox="1"/>
          <p:nvPr/>
        </p:nvSpPr>
        <p:spPr>
          <a:xfrm>
            <a:off x="777240" y="4937760"/>
            <a:ext cx="2560320" cy="1097280"/>
          </a:xfrm>
          <a:prstGeom prst="rect">
            <a:avLst/>
          </a:prstGeom>
          <a:noFill/>
          <a:ln>
            <a:noFill/>
          </a:ln>
        </p:spPr>
        <p:txBody>
          <a:bodyPr spcFirstLastPara="1" wrap="square" lIns="0" tIns="0" rIns="0" bIns="0" anchor="t" anchorCtr="0">
            <a:noAutofit/>
          </a:bodyPr>
          <a:lstStyle/>
          <a:p>
            <a:pPr algn="l"/>
            <a:r>
              <a:rPr sz="1300" b="0">
                <a:solidFill>
                  <a:srgbClr val="CBD5E1"/>
                </a:solidFill>
                <a:latin typeface="Calibri"/>
              </a:rPr>
              <a:t>Retail Store Inventory Dataset from Kaggle. Target: Units Sold.</a:t>
            </a:r>
          </a:p>
        </p:txBody>
      </p:sp>
      <p:graphicFrame>
        <p:nvGraphicFramePr>
          <p:cNvPr id="216" name="Google Shape;216;p7"/>
          <p:cNvGraphicFramePr/>
          <p:nvPr/>
        </p:nvGraphicFramePr>
        <p:xfrm>
          <a:off x="3931920" y="1371600"/>
          <a:ext cx="7680975" cy="4695600"/>
        </p:xfrm>
        <a:graphic>
          <a:graphicData uri="http://schemas.openxmlformats.org/drawingml/2006/table">
            <a:tbl>
              <a:tblPr>
                <a:noFill/>
                <a:tableStyleId>{96624263-CD6E-4E3E-AAE7-B132611AEFAC}</a:tableStyleId>
              </a:tblPr>
              <a:tblGrid>
                <a:gridCol w="2103125">
                  <a:extLst>
                    <a:ext uri="{9D8B030D-6E8A-4147-A177-3AD203B41FA5}">
                      <a16:colId xmlns:a16="http://schemas.microsoft.com/office/drawing/2014/main" val="20000"/>
                    </a:ext>
                  </a:extLst>
                </a:gridCol>
                <a:gridCol w="4389125">
                  <a:extLst>
                    <a:ext uri="{9D8B030D-6E8A-4147-A177-3AD203B41FA5}">
                      <a16:colId xmlns:a16="http://schemas.microsoft.com/office/drawing/2014/main" val="20001"/>
                    </a:ext>
                  </a:extLst>
                </a:gridCol>
                <a:gridCol w="1188725">
                  <a:extLst>
                    <a:ext uri="{9D8B030D-6E8A-4147-A177-3AD203B41FA5}">
                      <a16:colId xmlns:a16="http://schemas.microsoft.com/office/drawing/2014/main" val="20002"/>
                    </a:ext>
                  </a:extLst>
                </a:gridCol>
              </a:tblGrid>
              <a:tr h="361200">
                <a:tc>
                  <a:txBody>
                    <a:bodyPr/>
                    <a:lstStyle/>
                    <a:p>
                      <a:pPr algn="l"/>
                      <a:r>
                        <a:rPr sz="1300" b="1">
                          <a:solidFill>
                            <a:srgbClr val="FFFFFF"/>
                          </a:solidFill>
                          <a:latin typeface="Calibri"/>
                        </a:rPr>
                        <a:t>Column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Meaning</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Type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extLst>
                  <a:ext uri="{0D108BD9-81ED-4DB2-BD59-A6C34878D82A}">
                    <a16:rowId xmlns:a16="http://schemas.microsoft.com/office/drawing/2014/main" val="10000"/>
                  </a:ext>
                </a:extLst>
              </a:tr>
              <a:tr h="361200">
                <a:tc>
                  <a:txBody>
                    <a:bodyPr/>
                    <a:lstStyle/>
                    <a:p>
                      <a:pPr algn="l"/>
                      <a:r>
                        <a:rPr sz="1150" b="1">
                          <a:solidFill>
                            <a:srgbClr val="1E293B"/>
                          </a:solidFill>
                          <a:latin typeface="Calibri"/>
                        </a:rPr>
                        <a:t>Date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Transaction date (daily records 2022-2023)</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Temporal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1"/>
                  </a:ext>
                </a:extLst>
              </a:tr>
              <a:tr h="361200">
                <a:tc>
                  <a:txBody>
                    <a:bodyPr/>
                    <a:lstStyle/>
                    <a:p>
                      <a:pPr algn="l"/>
                      <a:r>
                        <a:rPr sz="1150" b="1">
                          <a:solidFill>
                            <a:srgbClr val="1E293B"/>
                          </a:solidFill>
                          <a:latin typeface="Calibri"/>
                        </a:rPr>
                        <a:t>Store ID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Store branch identifier (5 outlets: S001-S005)</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Categorical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61200">
                <a:tc>
                  <a:txBody>
                    <a:bodyPr/>
                    <a:lstStyle/>
                    <a:p>
                      <a:pPr algn="l"/>
                      <a:r>
                        <a:rPr sz="1150" b="1">
                          <a:solidFill>
                            <a:srgbClr val="1E293B"/>
                          </a:solidFill>
                          <a:latin typeface="Calibri"/>
                        </a:rPr>
                        <a:t>Product ID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Product identifier SKU code (20 SKU items)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Categorical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3"/>
                  </a:ext>
                </a:extLst>
              </a:tr>
              <a:tr h="361200">
                <a:tc>
                  <a:txBody>
                    <a:bodyPr/>
                    <a:lstStyle/>
                    <a:p>
                      <a:pPr algn="l"/>
                      <a:r>
                        <a:rPr sz="1150" b="1">
                          <a:solidFill>
                            <a:srgbClr val="1E293B"/>
                          </a:solidFill>
                          <a:latin typeface="Calibri"/>
                        </a:rPr>
                        <a:t>Category</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Merchandise department (Groceries, Electronics...)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Categorical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61200">
                <a:tc>
                  <a:txBody>
                    <a:bodyPr/>
                    <a:lstStyle/>
                    <a:p>
                      <a:pPr algn="l"/>
                      <a:r>
                        <a:rPr sz="1150" b="1">
                          <a:solidFill>
                            <a:srgbClr val="1E293B"/>
                          </a:solidFill>
                          <a:latin typeface="Calibri"/>
                        </a:rPr>
                        <a:t>Region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Regional market location (North, South, East, West)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Categorical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5"/>
                  </a:ext>
                </a:extLst>
              </a:tr>
              <a:tr h="361200">
                <a:tc>
                  <a:txBody>
                    <a:bodyPr/>
                    <a:lstStyle/>
                    <a:p>
                      <a:pPr algn="l"/>
                      <a:r>
                        <a:rPr sz="1150" b="1">
                          <a:solidFill>
                            <a:srgbClr val="1E293B"/>
                          </a:solidFill>
                          <a:latin typeface="Calibri"/>
                        </a:rPr>
                        <a:t>Inventory Level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Current stock quantity available on shelf</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61200">
                <a:tc>
                  <a:txBody>
                    <a:bodyPr/>
                    <a:lstStyle/>
                    <a:p>
                      <a:pPr algn="l"/>
                      <a:r>
                        <a:rPr sz="1150" b="1">
                          <a:solidFill>
                            <a:srgbClr val="1E293B"/>
                          </a:solidFill>
                          <a:latin typeface="Calibri"/>
                        </a:rPr>
                        <a:t>Units Sold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Daily sales demand volume (Target Variable)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7"/>
                  </a:ext>
                </a:extLst>
              </a:tr>
              <a:tr h="361200">
                <a:tc>
                  <a:txBody>
                    <a:bodyPr/>
                    <a:lstStyle/>
                    <a:p>
                      <a:pPr algn="l"/>
                      <a:r>
                        <a:rPr sz="1150" b="1">
                          <a:solidFill>
                            <a:srgbClr val="1E293B"/>
                          </a:solidFill>
                          <a:latin typeface="Calibri"/>
                        </a:rPr>
                        <a:t>Units Ordered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Quantity reordered for store replenishment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61200">
                <a:tc>
                  <a:txBody>
                    <a:bodyPr/>
                    <a:lstStyle/>
                    <a:p>
                      <a:pPr algn="l"/>
                      <a:r>
                        <a:rPr sz="1150" b="1">
                          <a:solidFill>
                            <a:srgbClr val="1E293B"/>
                          </a:solidFill>
                          <a:latin typeface="Calibri"/>
                        </a:rPr>
                        <a:t>Demand Forecast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Expected customer sales demand projection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9"/>
                  </a:ext>
                </a:extLst>
              </a:tr>
              <a:tr h="361200">
                <a:tc>
                  <a:txBody>
                    <a:bodyPr/>
                    <a:lstStyle/>
                    <a:p>
                      <a:pPr algn="l"/>
                      <a:r>
                        <a:rPr sz="1150" b="1">
                          <a:solidFill>
                            <a:srgbClr val="1E293B"/>
                          </a:solidFill>
                          <a:latin typeface="Calibri"/>
                        </a:rPr>
                        <a:t>Price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Selling price per product unit (in ₹)</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361200">
                <a:tc>
                  <a:txBody>
                    <a:bodyPr/>
                    <a:lstStyle/>
                    <a:p>
                      <a:pPr algn="l"/>
                      <a:r>
                        <a:rPr sz="1150" b="1">
                          <a:solidFill>
                            <a:srgbClr val="1E293B"/>
                          </a:solidFill>
                          <a:latin typeface="Calibri"/>
                        </a:rPr>
                        <a:t>Discount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Promotional discount percentage applied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150" b="0">
                          <a:solidFill>
                            <a:srgbClr val="1E293B"/>
                          </a:solidFill>
                          <a:latin typeface="Calibri"/>
                        </a:rPr>
                        <a:t>Numeric</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11"/>
                  </a:ext>
                </a:extLst>
              </a:tr>
              <a:tr h="361200">
                <a:tc>
                  <a:txBody>
                    <a:bodyPr/>
                    <a:lstStyle/>
                    <a:p>
                      <a:pPr algn="l"/>
                      <a:r>
                        <a:rPr sz="1150" b="1">
                          <a:solidFill>
                            <a:srgbClr val="1E293B"/>
                          </a:solidFill>
                          <a:latin typeface="Calibri"/>
                        </a:rPr>
                        <a:t>Holiday/Promotion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Active promotional campaign indicator (0 or 1)</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150" b="0">
                          <a:solidFill>
                            <a:srgbClr val="1E293B"/>
                          </a:solidFill>
                          <a:latin typeface="Calibri"/>
                        </a:rPr>
                        <a:t>Binary</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bl>
          </a:graphicData>
        </a:graphic>
      </p:graphicFrame>
      <p:sp>
        <p:nvSpPr>
          <p:cNvPr id="217" name="Google Shape;217;p7"/>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7</a:t>
            </a:fld>
            <a:endParaRPr sz="1000">
              <a:solidFill>
                <a:srgbClr val="64748B"/>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sp>
        <p:nvSpPr>
          <p:cNvPr id="223" name="Google Shape;223;p8"/>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224" name="Google Shape;224;p8"/>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Data Cleaning and Preprocessing</a:t>
            </a:r>
            <a:endParaRPr sz="3400">
              <a:solidFill>
                <a:schemeClr val="dk1"/>
              </a:solidFill>
              <a:latin typeface="Calibri"/>
              <a:ea typeface="Calibri"/>
              <a:cs typeface="Calibri"/>
              <a:sym typeface="Calibri"/>
            </a:endParaRPr>
          </a:p>
        </p:txBody>
      </p:sp>
      <p:sp>
        <p:nvSpPr>
          <p:cNvPr id="225" name="Google Shape;225;p8"/>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226" name="Google Shape;226;p8"/>
          <p:cNvSpPr/>
          <p:nvPr/>
        </p:nvSpPr>
        <p:spPr>
          <a:xfrm>
            <a:off x="548640" y="1371600"/>
            <a:ext cx="2834640" cy="2194560"/>
          </a:xfrm>
          <a:prstGeom prst="roundRect">
            <a:avLst>
              <a:gd name="adj" fmla="val 5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txBox="1"/>
          <p:nvPr/>
        </p:nvSpPr>
        <p:spPr>
          <a:xfrm>
            <a:off x="777240" y="1508760"/>
            <a:ext cx="237744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73,100</a:t>
            </a:r>
          </a:p>
        </p:txBody>
      </p:sp>
      <p:sp>
        <p:nvSpPr>
          <p:cNvPr id="228" name="Google Shape;228;p8"/>
          <p:cNvSpPr txBox="1"/>
          <p:nvPr/>
        </p:nvSpPr>
        <p:spPr>
          <a:xfrm>
            <a:off x="777240" y="2148840"/>
            <a:ext cx="2377440" cy="132588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clean records verified with 0 duplicate rows in the raw dataset</a:t>
            </a:r>
          </a:p>
        </p:txBody>
      </p:sp>
      <p:sp>
        <p:nvSpPr>
          <p:cNvPr id="229" name="Google Shape;229;p8"/>
          <p:cNvSpPr/>
          <p:nvPr/>
        </p:nvSpPr>
        <p:spPr>
          <a:xfrm>
            <a:off x="548640" y="3749040"/>
            <a:ext cx="2834640" cy="2194560"/>
          </a:xfrm>
          <a:prstGeom prst="roundRect">
            <a:avLst>
              <a:gd name="adj" fmla="val 5000"/>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txBox="1"/>
          <p:nvPr/>
        </p:nvSpPr>
        <p:spPr>
          <a:xfrm>
            <a:off x="777240" y="3886200"/>
            <a:ext cx="2377440" cy="594360"/>
          </a:xfrm>
          <a:prstGeom prst="rect">
            <a:avLst/>
          </a:prstGeom>
          <a:noFill/>
          <a:ln>
            <a:noFill/>
          </a:ln>
        </p:spPr>
        <p:txBody>
          <a:bodyPr spcFirstLastPara="1" wrap="square" lIns="0" tIns="0" rIns="0" bIns="0" anchor="t" anchorCtr="0">
            <a:noAutofit/>
          </a:bodyPr>
          <a:lstStyle/>
          <a:p>
            <a:pPr algn="l"/>
            <a:r>
              <a:rPr sz="3800" b="1">
                <a:solidFill>
                  <a:srgbClr val="0F172A"/>
                </a:solidFill>
                <a:latin typeface="Cambria"/>
              </a:rPr>
              <a:t>0</a:t>
            </a:r>
          </a:p>
        </p:txBody>
      </p:sp>
      <p:sp>
        <p:nvSpPr>
          <p:cNvPr id="231" name="Google Shape;231;p8"/>
          <p:cNvSpPr txBox="1"/>
          <p:nvPr/>
        </p:nvSpPr>
        <p:spPr>
          <a:xfrm>
            <a:off x="777240" y="4526280"/>
            <a:ext cx="2377440" cy="132588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missing values found across all 15 columns during data audit</a:t>
            </a:r>
          </a:p>
        </p:txBody>
      </p:sp>
      <p:graphicFrame>
        <p:nvGraphicFramePr>
          <p:cNvPr id="232" name="Google Shape;232;p8"/>
          <p:cNvGraphicFramePr/>
          <p:nvPr/>
        </p:nvGraphicFramePr>
        <p:xfrm>
          <a:off x="3657600" y="1371600"/>
          <a:ext cx="7955275" cy="4736550"/>
        </p:xfrm>
        <a:graphic>
          <a:graphicData uri="http://schemas.openxmlformats.org/drawingml/2006/table">
            <a:tbl>
              <a:tblPr>
                <a:noFill/>
                <a:tableStyleId>{96624263-CD6E-4E3E-AAE7-B132611AEFAC}</a:tableStyleId>
              </a:tblPr>
              <a:tblGrid>
                <a:gridCol w="173735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60325">
                  <a:extLst>
                    <a:ext uri="{9D8B030D-6E8A-4147-A177-3AD203B41FA5}">
                      <a16:colId xmlns:a16="http://schemas.microsoft.com/office/drawing/2014/main" val="20002"/>
                    </a:ext>
                  </a:extLst>
                </a:gridCol>
              </a:tblGrid>
              <a:tr h="676650">
                <a:tc>
                  <a:txBody>
                    <a:bodyPr/>
                    <a:lstStyle/>
                    <a:p>
                      <a:pPr algn="l"/>
                      <a:r>
                        <a:rPr sz="1300" b="1">
                          <a:solidFill>
                            <a:srgbClr val="FFFFFF"/>
                          </a:solidFill>
                          <a:latin typeface="Calibri"/>
                        </a:rPr>
                        <a:t>Step</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What we did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l"/>
                      <a:r>
                        <a:rPr sz="1300" b="1">
                          <a:solidFill>
                            <a:srgbClr val="FFFFFF"/>
                          </a:solidFill>
                          <a:latin typeface="Calibri"/>
                        </a:rPr>
                        <a:t>Why</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extLst>
                  <a:ext uri="{0D108BD9-81ED-4DB2-BD59-A6C34878D82A}">
                    <a16:rowId xmlns:a16="http://schemas.microsoft.com/office/drawing/2014/main" val="10000"/>
                  </a:ext>
                </a:extLst>
              </a:tr>
              <a:tr h="676650">
                <a:tc>
                  <a:txBody>
                    <a:bodyPr/>
                    <a:lstStyle/>
                    <a:p>
                      <a:pPr algn="l"/>
                      <a:r>
                        <a:rPr sz="1200" b="1">
                          <a:solidFill>
                            <a:srgbClr val="1E293B"/>
                          </a:solidFill>
                          <a:latin typeface="Calibri"/>
                        </a:rPr>
                        <a:t>Raw copy</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Worked on df.copy(); original dataset untouched</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Keeps raw data safe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1"/>
                  </a:ext>
                </a:extLst>
              </a:tr>
              <a:tr h="676650">
                <a:tc>
                  <a:txBody>
                    <a:bodyPr/>
                    <a:lstStyle/>
                    <a:p>
                      <a:pPr algn="l"/>
                      <a:r>
                        <a:rPr sz="1200" b="1">
                          <a:solidFill>
                            <a:srgbClr val="1E293B"/>
                          </a:solidFill>
                          <a:latin typeface="Calibri"/>
                        </a:rPr>
                        <a:t>Duplicates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Audited 73,100 records; verified 0 duplicate rows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Avoids redundant row bias in training</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76650">
                <a:tc>
                  <a:txBody>
                    <a:bodyPr/>
                    <a:lstStyle/>
                    <a:p>
                      <a:pPr algn="l"/>
                      <a:r>
                        <a:rPr sz="1200" b="1">
                          <a:solidFill>
                            <a:srgbClr val="1E293B"/>
                          </a:solidFill>
                          <a:latin typeface="Calibri"/>
                        </a:rPr>
                        <a:t>Missing values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Audited with df.isnull().sum(): 0 nulls across 15 features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Validates complete data integrity</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3"/>
                  </a:ext>
                </a:extLst>
              </a:tr>
              <a:tr h="676650">
                <a:tc>
                  <a:txBody>
                    <a:bodyPr/>
                    <a:lstStyle/>
                    <a:p>
                      <a:pPr algn="l"/>
                      <a:r>
                        <a:rPr sz="1200" b="1">
                          <a:solidFill>
                            <a:srgbClr val="1E293B"/>
                          </a:solidFill>
                          <a:latin typeface="Calibri"/>
                        </a:rPr>
                        <a:t>Outliers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Boxplot &amp; IQR verified: inventory (50-500) &amp; sales (2-298) kept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Preserves genuine promotional peaks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76650">
                <a:tc>
                  <a:txBody>
                    <a:bodyPr/>
                    <a:lstStyle/>
                    <a:p>
                      <a:pPr algn="l"/>
                      <a:r>
                        <a:rPr sz="1200" b="1">
                          <a:solidFill>
                            <a:srgbClr val="1E293B"/>
                          </a:solidFill>
                          <a:latin typeface="Calibri"/>
                        </a:rPr>
                        <a:t>New feature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Extracted Date_day, Date_month, Date_year from Date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l"/>
                      <a:r>
                        <a:rPr sz="1200" b="0">
                          <a:solidFill>
                            <a:srgbClr val="1E293B"/>
                          </a:solidFill>
                          <a:latin typeface="Calibri"/>
                        </a:rPr>
                        <a:t>Enables models to learn seasonal cycles</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5"/>
                  </a:ext>
                </a:extLst>
              </a:tr>
              <a:tr h="676650">
                <a:tc>
                  <a:txBody>
                    <a:bodyPr/>
                    <a:lstStyle/>
                    <a:p>
                      <a:pPr algn="l"/>
                      <a:r>
                        <a:rPr sz="1200" b="1">
                          <a:solidFill>
                            <a:srgbClr val="1E293B"/>
                          </a:solidFill>
                          <a:latin typeface="Calibri"/>
                        </a:rPr>
                        <a:t>Encode and scale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One-hot encoding on categoricals &amp; StandardScaler in pipeline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l"/>
                      <a:r>
                        <a:rPr sz="1200" b="0">
                          <a:solidFill>
                            <a:srgbClr val="1E293B"/>
                          </a:solidFill>
                          <a:latin typeface="Calibri"/>
                        </a:rPr>
                        <a:t>Fit on training data only: zero leakage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233" name="Google Shape;233;p8"/>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8</a:t>
            </a:fld>
            <a:endParaRPr sz="1000">
              <a:solidFill>
                <a:srgbClr val="64748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9"/>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240" name="Google Shape;240;p9"/>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Exploratory Data Analysis</a:t>
            </a:r>
            <a:endParaRPr sz="3400">
              <a:solidFill>
                <a:schemeClr val="dk1"/>
              </a:solidFill>
              <a:latin typeface="Calibri"/>
              <a:ea typeface="Calibri"/>
              <a:cs typeface="Calibri"/>
              <a:sym typeface="Calibri"/>
            </a:endParaRPr>
          </a:p>
        </p:txBody>
      </p:sp>
      <p:sp>
        <p:nvSpPr>
          <p:cNvPr id="241" name="Google Shape;241;p9"/>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242" name="Google Shape;242;p9"/>
          <p:cNvSpPr/>
          <p:nvPr/>
        </p:nvSpPr>
        <p:spPr>
          <a:xfrm>
            <a:off x="548640" y="1371600"/>
            <a:ext cx="3566160" cy="2423160"/>
          </a:xfrm>
          <a:prstGeom prst="roundRect">
            <a:avLst>
              <a:gd name="adj" fmla="val 4528"/>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9"/>
          <p:cNvSpPr txBox="1"/>
          <p:nvPr/>
        </p:nvSpPr>
        <p:spPr>
          <a:xfrm>
            <a:off x="548640" y="3931920"/>
            <a:ext cx="3566160" cy="100584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Outlier Detection</a:t>
            </a:r>
          </a:p>
          <a:p>
            <a:pPr algn="l"/>
            <a:r>
              <a:rPr sz="1300" b="0">
                <a:solidFill>
                  <a:srgbClr val="1E293B"/>
                </a:solidFill>
                <a:latin typeface="Calibri"/>
              </a:rPr>
              <a:t>Inventory Level and Units Sold show well-bounded spreads with no corrupt outlier entries.</a:t>
            </a:r>
          </a:p>
        </p:txBody>
      </p:sp>
      <p:sp>
        <p:nvSpPr>
          <p:cNvPr id="245" name="Google Shape;245;p9"/>
          <p:cNvSpPr/>
          <p:nvPr/>
        </p:nvSpPr>
        <p:spPr>
          <a:xfrm>
            <a:off x="4297680" y="1371600"/>
            <a:ext cx="3566160" cy="2423160"/>
          </a:xfrm>
          <a:prstGeom prst="roundRect">
            <a:avLst>
              <a:gd name="adj" fmla="val 4528"/>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9"/>
          <p:cNvSpPr txBox="1"/>
          <p:nvPr/>
        </p:nvSpPr>
        <p:spPr>
          <a:xfrm>
            <a:off x="4297680" y="3931920"/>
            <a:ext cx="3566160" cy="100584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Category Distribution</a:t>
            </a:r>
          </a:p>
          <a:p>
            <a:pPr algn="l"/>
            <a:r>
              <a:rPr sz="1300" b="0">
                <a:solidFill>
                  <a:srgbClr val="1E293B"/>
                </a:solidFill>
                <a:latin typeface="Calibri"/>
              </a:rPr>
              <a:t>Balanced daily sales frequency observed across all 5 merchandise categories and store outlets.</a:t>
            </a:r>
          </a:p>
        </p:txBody>
      </p:sp>
      <p:sp>
        <p:nvSpPr>
          <p:cNvPr id="248" name="Google Shape;248;p9"/>
          <p:cNvSpPr/>
          <p:nvPr/>
        </p:nvSpPr>
        <p:spPr>
          <a:xfrm>
            <a:off x="8046720" y="1371600"/>
            <a:ext cx="3566160" cy="2423160"/>
          </a:xfrm>
          <a:prstGeom prst="roundRect">
            <a:avLst>
              <a:gd name="adj" fmla="val 4528"/>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9"/>
          <p:cNvSpPr txBox="1"/>
          <p:nvPr/>
        </p:nvSpPr>
        <p:spPr>
          <a:xfrm>
            <a:off x="8046720" y="3931920"/>
            <a:ext cx="3566160" cy="1005840"/>
          </a:xfrm>
          <a:prstGeom prst="rect">
            <a:avLst/>
          </a:prstGeom>
          <a:noFill/>
          <a:ln>
            <a:noFill/>
          </a:ln>
        </p:spPr>
        <p:txBody>
          <a:bodyPr spcFirstLastPara="1" wrap="square" lIns="0" tIns="0" rIns="0" bIns="0" anchor="t" anchorCtr="0">
            <a:noAutofit/>
          </a:bodyPr>
          <a:lstStyle/>
          <a:p>
            <a:pPr algn="l"/>
            <a:r>
              <a:rPr sz="1300" b="0">
                <a:solidFill>
                  <a:srgbClr val="1E293B"/>
                </a:solidFill>
                <a:latin typeface="Calibri"/>
              </a:rPr>
              <a:t>Residual Diagnostics</a:t>
            </a:r>
          </a:p>
          <a:p>
            <a:pPr algn="l"/>
            <a:r>
              <a:rPr sz="1300" b="0">
                <a:solidFill>
                  <a:srgbClr val="1E293B"/>
                </a:solidFill>
                <a:latin typeface="Calibri"/>
              </a:rPr>
              <a:t>Prediction errors are tightly clustered around zero, proving high model calibration without drift.</a:t>
            </a:r>
          </a:p>
        </p:txBody>
      </p:sp>
      <p:sp>
        <p:nvSpPr>
          <p:cNvPr id="251" name="Google Shape;251;p9"/>
          <p:cNvSpPr/>
          <p:nvPr/>
        </p:nvSpPr>
        <p:spPr>
          <a:xfrm>
            <a:off x="548640" y="5074920"/>
            <a:ext cx="11064240" cy="1097280"/>
          </a:xfrm>
          <a:prstGeom prst="roundRect">
            <a:avLst>
              <a:gd name="adj" fmla="val 10000"/>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9"/>
          <p:cNvSpPr txBox="1"/>
          <p:nvPr/>
        </p:nvSpPr>
        <p:spPr>
          <a:xfrm>
            <a:off x="822960" y="5074920"/>
            <a:ext cx="10515600" cy="1097280"/>
          </a:xfrm>
          <a:prstGeom prst="rect">
            <a:avLst/>
          </a:prstGeom>
          <a:noFill/>
          <a:ln>
            <a:noFill/>
          </a:ln>
        </p:spPr>
        <p:txBody>
          <a:bodyPr spcFirstLastPara="1" wrap="square" lIns="0" tIns="0" rIns="0" bIns="0" anchor="ctr" anchorCtr="0">
            <a:noAutofit/>
          </a:bodyPr>
          <a:lstStyle/>
          <a:p>
            <a:pPr algn="l"/>
            <a:r>
              <a:rPr sz="1350" b="0">
                <a:solidFill>
                  <a:srgbClr val="FFFFFF"/>
                </a:solidFill>
                <a:latin typeface="Calibri"/>
              </a:rPr>
              <a:t>Takeaway  Demand Forecast and Units Sold show the strongest positive correlation (+0.99), making projected demand the decisive sales driver. Inventory levels (mean ~274.5 units) provide safe stock coverage across daily sales (~136.5 units).</a:t>
            </a:r>
          </a:p>
        </p:txBody>
      </p:sp>
      <p:sp>
        <p:nvSpPr>
          <p:cNvPr id="253" name="Google Shape;253;p9"/>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9</a:t>
            </a:fld>
            <a:endParaRPr sz="1000">
              <a:solidFill>
                <a:srgbClr val="64748B"/>
              </a:solidFill>
              <a:latin typeface="Calibri"/>
              <a:ea typeface="Calibri"/>
              <a:cs typeface="Calibri"/>
              <a:sym typeface="Calibri"/>
            </a:endParaRPr>
          </a:p>
        </p:txBody>
      </p:sp>
      <p:pic>
        <p:nvPicPr>
          <p:cNvPr id="254" name="Picture 253" descr="cell_10_out_0.png"/>
          <p:cNvPicPr>
            <a:picLocks noChangeAspect="1"/>
          </p:cNvPicPr>
          <p:nvPr/>
        </p:nvPicPr>
        <p:blipFill>
          <a:blip r:embed="rId3"/>
          <a:stretch>
            <a:fillRect/>
          </a:stretch>
        </p:blipFill>
        <p:spPr>
          <a:xfrm>
            <a:off x="691684" y="1463040"/>
            <a:ext cx="3280072" cy="2240280"/>
          </a:xfrm>
          <a:prstGeom prst="rect">
            <a:avLst/>
          </a:prstGeom>
        </p:spPr>
      </p:pic>
      <p:pic>
        <p:nvPicPr>
          <p:cNvPr id="255" name="Picture 254" descr="category_dist.png"/>
          <p:cNvPicPr>
            <a:picLocks noChangeAspect="1"/>
          </p:cNvPicPr>
          <p:nvPr/>
        </p:nvPicPr>
        <p:blipFill>
          <a:blip r:embed="rId4"/>
          <a:stretch>
            <a:fillRect/>
          </a:stretch>
        </p:blipFill>
        <p:spPr>
          <a:xfrm>
            <a:off x="4440724" y="1463040"/>
            <a:ext cx="3280072" cy="2240280"/>
          </a:xfrm>
          <a:prstGeom prst="rect">
            <a:avLst/>
          </a:prstGeom>
        </p:spPr>
      </p:pic>
      <p:pic>
        <p:nvPicPr>
          <p:cNvPr id="256" name="Picture 255" descr="cell_32_out_0.png"/>
          <p:cNvPicPr>
            <a:picLocks noChangeAspect="1"/>
          </p:cNvPicPr>
          <p:nvPr/>
        </p:nvPicPr>
        <p:blipFill>
          <a:blip r:embed="rId5"/>
          <a:stretch>
            <a:fillRect/>
          </a:stretch>
        </p:blipFill>
        <p:spPr>
          <a:xfrm>
            <a:off x="8189764" y="1463040"/>
            <a:ext cx="3280072" cy="2240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sp>
        <p:nvSpPr>
          <p:cNvPr id="259" name="Google Shape;259;p10"/>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260" name="Google Shape;260;p10"/>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Model Building</a:t>
            </a:r>
            <a:endParaRPr sz="3400">
              <a:solidFill>
                <a:schemeClr val="dk1"/>
              </a:solidFill>
              <a:latin typeface="Calibri"/>
              <a:ea typeface="Calibri"/>
              <a:cs typeface="Calibri"/>
              <a:sym typeface="Calibri"/>
            </a:endParaRPr>
          </a:p>
        </p:txBody>
      </p:sp>
      <p:sp>
        <p:nvSpPr>
          <p:cNvPr id="261" name="Google Shape;261;p10"/>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262" name="Google Shape;262;p10"/>
          <p:cNvSpPr/>
          <p:nvPr/>
        </p:nvSpPr>
        <p:spPr>
          <a:xfrm>
            <a:off x="548640" y="1371600"/>
            <a:ext cx="5852160" cy="1051560"/>
          </a:xfrm>
          <a:prstGeom prst="roundRect">
            <a:avLst>
              <a:gd name="adj" fmla="val 10435"/>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0"/>
          <p:cNvSpPr/>
          <p:nvPr/>
        </p:nvSpPr>
        <p:spPr>
          <a:xfrm>
            <a:off x="777240" y="1627632"/>
            <a:ext cx="548640" cy="548640"/>
          </a:xfrm>
          <a:prstGeom prst="ellipse">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0"/>
          <p:cNvSpPr txBox="1"/>
          <p:nvPr/>
        </p:nvSpPr>
        <p:spPr>
          <a:xfrm>
            <a:off x="777240" y="1627632"/>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a:t>
            </a:r>
            <a:endParaRPr sz="1600">
              <a:solidFill>
                <a:schemeClr val="dk1"/>
              </a:solidFill>
              <a:latin typeface="Calibri"/>
              <a:ea typeface="Calibri"/>
              <a:cs typeface="Calibri"/>
              <a:sym typeface="Calibri"/>
            </a:endParaRPr>
          </a:p>
        </p:txBody>
      </p:sp>
      <p:sp>
        <p:nvSpPr>
          <p:cNvPr id="265" name="Google Shape;265;p10"/>
          <p:cNvSpPr txBox="1"/>
          <p:nvPr/>
        </p:nvSpPr>
        <p:spPr>
          <a:xfrm>
            <a:off x="1554480" y="1554480"/>
            <a:ext cx="46634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700"/>
              <a:buFont typeface="Calibri"/>
              <a:buNone/>
            </a:pPr>
            <a:r>
              <a:rPr lang="en-US" sz="1700" b="1">
                <a:solidFill>
                  <a:srgbClr val="14213D"/>
                </a:solidFill>
                <a:latin typeface="Calibri"/>
                <a:ea typeface="Calibri"/>
                <a:cs typeface="Calibri"/>
                <a:sym typeface="Calibri"/>
              </a:rPr>
              <a:t>Separate features and target</a:t>
            </a:r>
            <a:endParaRPr sz="1700">
              <a:solidFill>
                <a:schemeClr val="dk1"/>
              </a:solidFill>
              <a:latin typeface="Calibri"/>
              <a:ea typeface="Calibri"/>
              <a:cs typeface="Calibri"/>
              <a:sym typeface="Calibri"/>
            </a:endParaRPr>
          </a:p>
        </p:txBody>
      </p:sp>
      <p:sp>
        <p:nvSpPr>
          <p:cNvPr id="266" name="Google Shape;266;p10"/>
          <p:cNvSpPr txBox="1"/>
          <p:nvPr/>
        </p:nvSpPr>
        <p:spPr>
          <a:xfrm>
            <a:off x="1554480" y="1938528"/>
            <a:ext cx="4663440" cy="41148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X has 14 features (46 encoded); y is Units Sold</a:t>
            </a:r>
          </a:p>
        </p:txBody>
      </p:sp>
      <p:sp>
        <p:nvSpPr>
          <p:cNvPr id="267" name="Google Shape;267;p10"/>
          <p:cNvSpPr/>
          <p:nvPr/>
        </p:nvSpPr>
        <p:spPr>
          <a:xfrm>
            <a:off x="548640" y="2560320"/>
            <a:ext cx="5852160" cy="1051560"/>
          </a:xfrm>
          <a:prstGeom prst="roundRect">
            <a:avLst>
              <a:gd name="adj" fmla="val 10435"/>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0"/>
          <p:cNvSpPr/>
          <p:nvPr/>
        </p:nvSpPr>
        <p:spPr>
          <a:xfrm>
            <a:off x="777240" y="2816352"/>
            <a:ext cx="548640" cy="548640"/>
          </a:xfrm>
          <a:prstGeom prst="ellipse">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0"/>
          <p:cNvSpPr txBox="1"/>
          <p:nvPr/>
        </p:nvSpPr>
        <p:spPr>
          <a:xfrm>
            <a:off x="777240" y="2816352"/>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2</a:t>
            </a:r>
            <a:endParaRPr sz="1600">
              <a:solidFill>
                <a:schemeClr val="dk1"/>
              </a:solidFill>
              <a:latin typeface="Calibri"/>
              <a:ea typeface="Calibri"/>
              <a:cs typeface="Calibri"/>
              <a:sym typeface="Calibri"/>
            </a:endParaRPr>
          </a:p>
        </p:txBody>
      </p:sp>
      <p:sp>
        <p:nvSpPr>
          <p:cNvPr id="270" name="Google Shape;270;p10"/>
          <p:cNvSpPr txBox="1"/>
          <p:nvPr/>
        </p:nvSpPr>
        <p:spPr>
          <a:xfrm>
            <a:off x="1554480" y="2743200"/>
            <a:ext cx="46634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700"/>
              <a:buFont typeface="Calibri"/>
              <a:buNone/>
            </a:pPr>
            <a:r>
              <a:rPr lang="en-US" sz="1700" b="1">
                <a:solidFill>
                  <a:srgbClr val="14213D"/>
                </a:solidFill>
                <a:latin typeface="Calibri"/>
                <a:ea typeface="Calibri"/>
                <a:cs typeface="Calibri"/>
                <a:sym typeface="Calibri"/>
              </a:rPr>
              <a:t>Split 80% train / 20% test</a:t>
            </a:r>
            <a:endParaRPr sz="1700">
              <a:solidFill>
                <a:schemeClr val="dk1"/>
              </a:solidFill>
              <a:latin typeface="Calibri"/>
              <a:ea typeface="Calibri"/>
              <a:cs typeface="Calibri"/>
              <a:sym typeface="Calibri"/>
            </a:endParaRPr>
          </a:p>
        </p:txBody>
      </p:sp>
      <p:sp>
        <p:nvSpPr>
          <p:cNvPr id="271" name="Google Shape;271;p10"/>
          <p:cNvSpPr txBox="1"/>
          <p:nvPr/>
        </p:nvSpPr>
        <p:spPr>
          <a:xfrm>
            <a:off x="1554480" y="3127248"/>
            <a:ext cx="4663440" cy="41148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58,480 training and 14,620 test records, random_state = 42</a:t>
            </a:r>
          </a:p>
        </p:txBody>
      </p:sp>
      <p:sp>
        <p:nvSpPr>
          <p:cNvPr id="272" name="Google Shape;272;p10"/>
          <p:cNvSpPr/>
          <p:nvPr/>
        </p:nvSpPr>
        <p:spPr>
          <a:xfrm>
            <a:off x="548640" y="3749040"/>
            <a:ext cx="5852160" cy="1051560"/>
          </a:xfrm>
          <a:prstGeom prst="roundRect">
            <a:avLst>
              <a:gd name="adj" fmla="val 10435"/>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0"/>
          <p:cNvSpPr/>
          <p:nvPr/>
        </p:nvSpPr>
        <p:spPr>
          <a:xfrm>
            <a:off x="777240" y="4005072"/>
            <a:ext cx="548640" cy="548640"/>
          </a:xfrm>
          <a:prstGeom prst="ellipse">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0"/>
          <p:cNvSpPr txBox="1"/>
          <p:nvPr/>
        </p:nvSpPr>
        <p:spPr>
          <a:xfrm>
            <a:off x="777240" y="4005072"/>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3</a:t>
            </a:r>
            <a:endParaRPr sz="1600">
              <a:solidFill>
                <a:schemeClr val="dk1"/>
              </a:solidFill>
              <a:latin typeface="Calibri"/>
              <a:ea typeface="Calibri"/>
              <a:cs typeface="Calibri"/>
              <a:sym typeface="Calibri"/>
            </a:endParaRPr>
          </a:p>
        </p:txBody>
      </p:sp>
      <p:sp>
        <p:nvSpPr>
          <p:cNvPr id="275" name="Google Shape;275;p10"/>
          <p:cNvSpPr txBox="1"/>
          <p:nvPr/>
        </p:nvSpPr>
        <p:spPr>
          <a:xfrm>
            <a:off x="1554480" y="3931920"/>
            <a:ext cx="46634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700"/>
              <a:buFont typeface="Calibri"/>
              <a:buNone/>
            </a:pPr>
            <a:r>
              <a:rPr lang="en-US" sz="1700" b="1">
                <a:solidFill>
                  <a:srgbClr val="14213D"/>
                </a:solidFill>
                <a:latin typeface="Calibri"/>
                <a:ea typeface="Calibri"/>
                <a:cs typeface="Calibri"/>
                <a:sym typeface="Calibri"/>
              </a:rPr>
              <a:t>Preprocess inside a pipeline</a:t>
            </a:r>
            <a:endParaRPr sz="1700">
              <a:solidFill>
                <a:schemeClr val="dk1"/>
              </a:solidFill>
              <a:latin typeface="Calibri"/>
              <a:ea typeface="Calibri"/>
              <a:cs typeface="Calibri"/>
              <a:sym typeface="Calibri"/>
            </a:endParaRPr>
          </a:p>
        </p:txBody>
      </p:sp>
      <p:sp>
        <p:nvSpPr>
          <p:cNvPr id="276" name="Google Shape;276;p10"/>
          <p:cNvSpPr txBox="1"/>
          <p:nvPr/>
        </p:nvSpPr>
        <p:spPr>
          <a:xfrm>
            <a:off x="1554480" y="4315968"/>
            <a:ext cx="46634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Median / mode imputation, scaling, one-hot encoding</a:t>
            </a:r>
            <a:endParaRPr sz="1400">
              <a:solidFill>
                <a:schemeClr val="dk1"/>
              </a:solidFill>
              <a:latin typeface="Calibri"/>
              <a:ea typeface="Calibri"/>
              <a:cs typeface="Calibri"/>
              <a:sym typeface="Calibri"/>
            </a:endParaRPr>
          </a:p>
        </p:txBody>
      </p:sp>
      <p:sp>
        <p:nvSpPr>
          <p:cNvPr id="277" name="Google Shape;277;p10"/>
          <p:cNvSpPr/>
          <p:nvPr/>
        </p:nvSpPr>
        <p:spPr>
          <a:xfrm>
            <a:off x="548640" y="4937760"/>
            <a:ext cx="5852160" cy="1051560"/>
          </a:xfrm>
          <a:prstGeom prst="roundRect">
            <a:avLst>
              <a:gd name="adj" fmla="val 10435"/>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0"/>
          <p:cNvSpPr/>
          <p:nvPr/>
        </p:nvSpPr>
        <p:spPr>
          <a:xfrm>
            <a:off x="777240" y="5193792"/>
            <a:ext cx="548640" cy="548640"/>
          </a:xfrm>
          <a:prstGeom prst="ellipse">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0"/>
          <p:cNvSpPr txBox="1"/>
          <p:nvPr/>
        </p:nvSpPr>
        <p:spPr>
          <a:xfrm>
            <a:off x="777240" y="5193792"/>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4</a:t>
            </a:r>
            <a:endParaRPr sz="1600">
              <a:solidFill>
                <a:schemeClr val="dk1"/>
              </a:solidFill>
              <a:latin typeface="Calibri"/>
              <a:ea typeface="Calibri"/>
              <a:cs typeface="Calibri"/>
              <a:sym typeface="Calibri"/>
            </a:endParaRPr>
          </a:p>
        </p:txBody>
      </p:sp>
      <p:sp>
        <p:nvSpPr>
          <p:cNvPr id="280" name="Google Shape;280;p10"/>
          <p:cNvSpPr txBox="1"/>
          <p:nvPr/>
        </p:nvSpPr>
        <p:spPr>
          <a:xfrm>
            <a:off x="1554480" y="5120640"/>
            <a:ext cx="46634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700"/>
              <a:buFont typeface="Calibri"/>
              <a:buNone/>
            </a:pPr>
            <a:r>
              <a:rPr lang="en-US" sz="1700" b="1">
                <a:solidFill>
                  <a:srgbClr val="14213D"/>
                </a:solidFill>
                <a:latin typeface="Calibri"/>
                <a:ea typeface="Calibri"/>
                <a:cs typeface="Calibri"/>
                <a:sym typeface="Calibri"/>
              </a:rPr>
              <a:t>Train, compare, cross-validate</a:t>
            </a:r>
            <a:endParaRPr sz="1700">
              <a:solidFill>
                <a:schemeClr val="dk1"/>
              </a:solidFill>
              <a:latin typeface="Calibri"/>
              <a:ea typeface="Calibri"/>
              <a:cs typeface="Calibri"/>
              <a:sym typeface="Calibri"/>
            </a:endParaRPr>
          </a:p>
        </p:txBody>
      </p:sp>
      <p:sp>
        <p:nvSpPr>
          <p:cNvPr id="281" name="Google Shape;281;p10"/>
          <p:cNvSpPr txBox="1"/>
          <p:nvPr/>
        </p:nvSpPr>
        <p:spPr>
          <a:xfrm>
            <a:off x="1554480" y="5504688"/>
            <a:ext cx="466344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E293B"/>
              </a:buClr>
              <a:buSzPts val="1400"/>
              <a:buFont typeface="Calibri"/>
              <a:buNone/>
            </a:pPr>
            <a:r>
              <a:rPr lang="en-US" sz="1400">
                <a:solidFill>
                  <a:srgbClr val="1E293B"/>
                </a:solidFill>
                <a:latin typeface="Calibri"/>
                <a:ea typeface="Calibri"/>
                <a:cs typeface="Calibri"/>
                <a:sym typeface="Calibri"/>
              </a:rPr>
              <a:t>Three models, plus 5-fold cross-validation on training data</a:t>
            </a:r>
            <a:endParaRPr sz="1400">
              <a:solidFill>
                <a:schemeClr val="dk1"/>
              </a:solidFill>
              <a:latin typeface="Calibri"/>
              <a:ea typeface="Calibri"/>
              <a:cs typeface="Calibri"/>
              <a:sym typeface="Calibri"/>
            </a:endParaRPr>
          </a:p>
        </p:txBody>
      </p:sp>
      <p:sp>
        <p:nvSpPr>
          <p:cNvPr id="282" name="Google Shape;282;p10"/>
          <p:cNvSpPr/>
          <p:nvPr/>
        </p:nvSpPr>
        <p:spPr>
          <a:xfrm>
            <a:off x="6766560" y="1371600"/>
            <a:ext cx="484632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0"/>
          <p:cNvSpPr/>
          <p:nvPr/>
        </p:nvSpPr>
        <p:spPr>
          <a:xfrm>
            <a:off x="6995160" y="1600200"/>
            <a:ext cx="256032" cy="256032"/>
          </a:xfrm>
          <a:prstGeom prst="ellipse">
            <a:avLst/>
          </a:prstGeom>
          <a:solidFill>
            <a:srgbClr val="2A9D8F"/>
          </a:solidFill>
          <a:ln w="12700" cap="flat" cmpd="sng">
            <a:solidFill>
              <a:srgbClr val="2A9D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txBox="1"/>
          <p:nvPr/>
        </p:nvSpPr>
        <p:spPr>
          <a:xfrm>
            <a:off x="7406640" y="1554480"/>
            <a:ext cx="4023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800"/>
              <a:buFont typeface="Calibri"/>
              <a:buNone/>
            </a:pPr>
            <a:r>
              <a:rPr lang="en-US" sz="1800" b="1">
                <a:solidFill>
                  <a:srgbClr val="14213D"/>
                </a:solidFill>
                <a:latin typeface="Calibri"/>
                <a:ea typeface="Calibri"/>
                <a:cs typeface="Calibri"/>
                <a:sym typeface="Calibri"/>
              </a:rPr>
              <a:t>Linear Regression</a:t>
            </a:r>
            <a:endParaRPr sz="1800">
              <a:solidFill>
                <a:schemeClr val="dk1"/>
              </a:solidFill>
              <a:latin typeface="Calibri"/>
              <a:ea typeface="Calibri"/>
              <a:cs typeface="Calibri"/>
              <a:sym typeface="Calibri"/>
            </a:endParaRPr>
          </a:p>
        </p:txBody>
      </p:sp>
      <p:sp>
        <p:nvSpPr>
          <p:cNvPr id="285" name="Google Shape;285;p10"/>
          <p:cNvSpPr txBox="1"/>
          <p:nvPr/>
        </p:nvSpPr>
        <p:spPr>
          <a:xfrm>
            <a:off x="7406640" y="2057400"/>
            <a:ext cx="402336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Baseline: fits a global linear regression hyperplane across features</a:t>
            </a:r>
          </a:p>
        </p:txBody>
      </p:sp>
      <p:sp>
        <p:nvSpPr>
          <p:cNvPr id="286" name="Google Shape;286;p10"/>
          <p:cNvSpPr/>
          <p:nvPr/>
        </p:nvSpPr>
        <p:spPr>
          <a:xfrm>
            <a:off x="6766560" y="2971800"/>
            <a:ext cx="484632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0"/>
          <p:cNvSpPr/>
          <p:nvPr/>
        </p:nvSpPr>
        <p:spPr>
          <a:xfrm>
            <a:off x="6995160" y="3200400"/>
            <a:ext cx="256032" cy="256032"/>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0"/>
          <p:cNvSpPr txBox="1"/>
          <p:nvPr/>
        </p:nvSpPr>
        <p:spPr>
          <a:xfrm>
            <a:off x="7406640" y="3154680"/>
            <a:ext cx="4023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800"/>
              <a:buFont typeface="Calibri"/>
              <a:buNone/>
            </a:pPr>
            <a:r>
              <a:rPr lang="en-US" sz="1800" b="1">
                <a:solidFill>
                  <a:srgbClr val="14213D"/>
                </a:solidFill>
                <a:latin typeface="Calibri"/>
                <a:ea typeface="Calibri"/>
                <a:cs typeface="Calibri"/>
                <a:sym typeface="Calibri"/>
              </a:rPr>
              <a:t>Decision Tree (max_depth = 10)</a:t>
            </a:r>
            <a:endParaRPr sz="1800">
              <a:solidFill>
                <a:schemeClr val="dk1"/>
              </a:solidFill>
              <a:latin typeface="Calibri"/>
              <a:ea typeface="Calibri"/>
              <a:cs typeface="Calibri"/>
              <a:sym typeface="Calibri"/>
            </a:endParaRPr>
          </a:p>
        </p:txBody>
      </p:sp>
      <p:sp>
        <p:nvSpPr>
          <p:cNvPr id="289" name="Google Shape;289;p10"/>
          <p:cNvSpPr txBox="1"/>
          <p:nvPr/>
        </p:nvSpPr>
        <p:spPr>
          <a:xfrm>
            <a:off x="7406640" y="3657600"/>
            <a:ext cx="402336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Learns hierarchical non-linear if–then split rules from sales patterns</a:t>
            </a:r>
          </a:p>
        </p:txBody>
      </p:sp>
      <p:sp>
        <p:nvSpPr>
          <p:cNvPr id="290" name="Google Shape;290;p10"/>
          <p:cNvSpPr/>
          <p:nvPr/>
        </p:nvSpPr>
        <p:spPr>
          <a:xfrm>
            <a:off x="6766560" y="4572000"/>
            <a:ext cx="484632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0"/>
          <p:cNvSpPr/>
          <p:nvPr/>
        </p:nvSpPr>
        <p:spPr>
          <a:xfrm>
            <a:off x="6995160" y="4800600"/>
            <a:ext cx="256032" cy="256032"/>
          </a:xfrm>
          <a:prstGeom prst="ellipse">
            <a:avLst/>
          </a:prstGeom>
          <a:solidFill>
            <a:srgbClr val="FCA311"/>
          </a:solidFill>
          <a:ln w="12700" cap="flat" cmpd="sng">
            <a:solidFill>
              <a:srgbClr val="FCA3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0"/>
          <p:cNvSpPr txBox="1"/>
          <p:nvPr/>
        </p:nvSpPr>
        <p:spPr>
          <a:xfrm>
            <a:off x="7406640" y="4754880"/>
            <a:ext cx="4023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1800"/>
              <a:buFont typeface="Calibri"/>
              <a:buNone/>
            </a:pPr>
            <a:r>
              <a:rPr lang="en-US" sz="1800" b="1">
                <a:solidFill>
                  <a:srgbClr val="14213D"/>
                </a:solidFill>
                <a:latin typeface="Calibri"/>
                <a:ea typeface="Calibri"/>
                <a:cs typeface="Calibri"/>
                <a:sym typeface="Calibri"/>
              </a:rPr>
              <a:t>Random Forest (100 trees)</a:t>
            </a:r>
            <a:endParaRPr sz="1800">
              <a:solidFill>
                <a:schemeClr val="dk1"/>
              </a:solidFill>
              <a:latin typeface="Calibri"/>
              <a:ea typeface="Calibri"/>
              <a:cs typeface="Calibri"/>
              <a:sym typeface="Calibri"/>
            </a:endParaRPr>
          </a:p>
        </p:txBody>
      </p:sp>
      <p:sp>
        <p:nvSpPr>
          <p:cNvPr id="293" name="Google Shape;293;p10"/>
          <p:cNvSpPr txBox="1"/>
          <p:nvPr/>
        </p:nvSpPr>
        <p:spPr>
          <a:xfrm>
            <a:off x="7406640" y="5257800"/>
            <a:ext cx="4023360" cy="594360"/>
          </a:xfrm>
          <a:prstGeom prst="rect">
            <a:avLst/>
          </a:prstGeom>
          <a:noFill/>
          <a:ln>
            <a:noFill/>
          </a:ln>
        </p:spPr>
        <p:txBody>
          <a:bodyPr spcFirstLastPara="1" wrap="square" lIns="0" tIns="0" rIns="0" bIns="0" anchor="t" anchorCtr="0">
            <a:noAutofit/>
          </a:bodyPr>
          <a:lstStyle/>
          <a:p>
            <a:pPr algn="l"/>
            <a:r>
              <a:rPr sz="1400" b="0">
                <a:solidFill>
                  <a:srgbClr val="475569"/>
                </a:solidFill>
                <a:latin typeface="Calibri"/>
              </a:rPr>
              <a:t>Averages 100 decision trees to capture complex interactions and suppress variance</a:t>
            </a:r>
          </a:p>
        </p:txBody>
      </p:sp>
      <p:sp>
        <p:nvSpPr>
          <p:cNvPr id="294" name="Google Shape;294;p10"/>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10</a:t>
            </a:fld>
            <a:endParaRPr sz="1000">
              <a:solidFill>
                <a:srgbClr val="64748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11"/>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301" name="Google Shape;301;p11"/>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Model Results and Comparison</a:t>
            </a:r>
            <a:endParaRPr sz="3400">
              <a:solidFill>
                <a:schemeClr val="dk1"/>
              </a:solidFill>
              <a:latin typeface="Calibri"/>
              <a:ea typeface="Calibri"/>
              <a:cs typeface="Calibri"/>
              <a:sym typeface="Calibri"/>
            </a:endParaRPr>
          </a:p>
        </p:txBody>
      </p:sp>
      <p:sp>
        <p:nvSpPr>
          <p:cNvPr id="302" name="Google Shape;302;p11"/>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graphicFrame>
        <p:nvGraphicFramePr>
          <p:cNvPr id="303" name="Google Shape;303;p11"/>
          <p:cNvGraphicFramePr/>
          <p:nvPr/>
        </p:nvGraphicFramePr>
        <p:xfrm>
          <a:off x="548640" y="1371600"/>
          <a:ext cx="6492240" cy="4297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4" name="Google Shape;304;p11"/>
          <p:cNvGraphicFramePr/>
          <p:nvPr/>
        </p:nvGraphicFramePr>
        <p:xfrm>
          <a:off x="7315200" y="1371600"/>
          <a:ext cx="4297675" cy="2011700"/>
        </p:xfrm>
        <a:graphic>
          <a:graphicData uri="http://schemas.openxmlformats.org/drawingml/2006/table">
            <a:tbl>
              <a:tblPr>
                <a:noFill/>
                <a:tableStyleId>{96624263-CD6E-4E3E-AAE7-B132611AEFAC}</a:tableStyleId>
              </a:tblPr>
              <a:tblGrid>
                <a:gridCol w="1554475">
                  <a:extLst>
                    <a:ext uri="{9D8B030D-6E8A-4147-A177-3AD203B41FA5}">
                      <a16:colId xmlns:a16="http://schemas.microsoft.com/office/drawing/2014/main" val="20000"/>
                    </a:ext>
                  </a:extLst>
                </a:gridCol>
                <a:gridCol w="868675">
                  <a:extLst>
                    <a:ext uri="{9D8B030D-6E8A-4147-A177-3AD203B41FA5}">
                      <a16:colId xmlns:a16="http://schemas.microsoft.com/office/drawing/2014/main" val="20001"/>
                    </a:ext>
                  </a:extLst>
                </a:gridCol>
                <a:gridCol w="960125">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02925">
                <a:tc>
                  <a:txBody>
                    <a:bodyPr/>
                    <a:lstStyle/>
                    <a:p>
                      <a:pPr algn="l"/>
                      <a:r>
                        <a:rPr sz="1300" b="1">
                          <a:solidFill>
                            <a:srgbClr val="FFFFFF"/>
                          </a:solidFill>
                          <a:latin typeface="Calibri"/>
                        </a:rPr>
                        <a:t>Model</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ctr"/>
                      <a:r>
                        <a:rPr sz="1300" b="1">
                          <a:solidFill>
                            <a:srgbClr val="FFFFFF"/>
                          </a:solidFill>
                          <a:latin typeface="Calibri"/>
                        </a:rPr>
                        <a:t>MAE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ctr"/>
                      <a:r>
                        <a:rPr sz="1300" b="1">
                          <a:solidFill>
                            <a:srgbClr val="FFFFFF"/>
                          </a:solidFill>
                          <a:latin typeface="Calibri"/>
                        </a:rPr>
                        <a:t>RMSE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tc>
                  <a:txBody>
                    <a:bodyPr/>
                    <a:lstStyle/>
                    <a:p>
                      <a:pPr algn="ctr"/>
                      <a:r>
                        <a:rPr sz="1300" b="1">
                          <a:solidFill>
                            <a:srgbClr val="FFFFFF"/>
                          </a:solidFill>
                          <a:latin typeface="Calibri"/>
                        </a:rPr>
                        <a:t>R²</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14213D"/>
                    </a:solidFill>
                  </a:tcPr>
                </a:tc>
                <a:extLst>
                  <a:ext uri="{0D108BD9-81ED-4DB2-BD59-A6C34878D82A}">
                    <a16:rowId xmlns:a16="http://schemas.microsoft.com/office/drawing/2014/main" val="10000"/>
                  </a:ext>
                </a:extLst>
              </a:tr>
              <a:tr h="502925">
                <a:tc>
                  <a:txBody>
                    <a:bodyPr/>
                    <a:lstStyle/>
                    <a:p>
                      <a:pPr algn="l"/>
                      <a:r>
                        <a:rPr sz="1250" b="1">
                          <a:solidFill>
                            <a:srgbClr val="1E293B"/>
                          </a:solidFill>
                          <a:latin typeface="Calibri"/>
                        </a:rPr>
                        <a:t>Linear Regression</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ctr"/>
                      <a:r>
                        <a:rPr sz="1250" b="0">
                          <a:solidFill>
                            <a:srgbClr val="1E293B"/>
                          </a:solidFill>
                          <a:latin typeface="Calibri"/>
                        </a:rPr>
                        <a:t>7.422</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ctr"/>
                      <a:r>
                        <a:rPr sz="1250" b="0">
                          <a:solidFill>
                            <a:srgbClr val="1E293B"/>
                          </a:solidFill>
                          <a:latin typeface="Calibri"/>
                        </a:rPr>
                        <a:t>8.605</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tc>
                  <a:txBody>
                    <a:bodyPr/>
                    <a:lstStyle/>
                    <a:p>
                      <a:pPr algn="ctr"/>
                      <a:r>
                        <a:rPr sz="1250" b="0">
                          <a:solidFill>
                            <a:srgbClr val="1E293B"/>
                          </a:solidFill>
                          <a:latin typeface="Calibri"/>
                        </a:rPr>
                        <a:t>0.994</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1F4F9"/>
                    </a:solidFill>
                  </a:tcPr>
                </a:tc>
                <a:extLst>
                  <a:ext uri="{0D108BD9-81ED-4DB2-BD59-A6C34878D82A}">
                    <a16:rowId xmlns:a16="http://schemas.microsoft.com/office/drawing/2014/main" val="10001"/>
                  </a:ext>
                </a:extLst>
              </a:tr>
              <a:tr h="502925">
                <a:tc>
                  <a:txBody>
                    <a:bodyPr/>
                    <a:lstStyle/>
                    <a:p>
                      <a:pPr algn="l"/>
                      <a:r>
                        <a:rPr sz="1250" b="1">
                          <a:solidFill>
                            <a:srgbClr val="1E293B"/>
                          </a:solidFill>
                          <a:latin typeface="Calibri"/>
                        </a:rPr>
                        <a:t>Decision Tree</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ctr"/>
                      <a:r>
                        <a:rPr sz="1250" b="0">
                          <a:solidFill>
                            <a:srgbClr val="1E293B"/>
                          </a:solidFill>
                          <a:latin typeface="Calibri"/>
                        </a:rPr>
                        <a:t>9.471</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ctr"/>
                      <a:r>
                        <a:rPr sz="1250" b="0">
                          <a:solidFill>
                            <a:srgbClr val="1E293B"/>
                          </a:solidFill>
                          <a:latin typeface="Calibri"/>
                        </a:rPr>
                        <a:t>11.780</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tc>
                  <a:txBody>
                    <a:bodyPr/>
                    <a:lstStyle/>
                    <a:p>
                      <a:pPr algn="ctr"/>
                      <a:r>
                        <a:rPr sz="1250" b="0">
                          <a:solidFill>
                            <a:srgbClr val="1E293B"/>
                          </a:solidFill>
                          <a:latin typeface="Calibri"/>
                        </a:rPr>
                        <a:t>0.988</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02925">
                <a:tc>
                  <a:txBody>
                    <a:bodyPr/>
                    <a:lstStyle/>
                    <a:p>
                      <a:pPr algn="l"/>
                      <a:r>
                        <a:rPr sz="1250" b="1">
                          <a:solidFill>
                            <a:srgbClr val="1E293B"/>
                          </a:solidFill>
                          <a:latin typeface="Calibri"/>
                        </a:rPr>
                        <a:t>Random Forest</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1D6"/>
                    </a:solidFill>
                  </a:tcPr>
                </a:tc>
                <a:tc>
                  <a:txBody>
                    <a:bodyPr/>
                    <a:lstStyle/>
                    <a:p>
                      <a:pPr algn="ctr"/>
                      <a:r>
                        <a:rPr sz="1250" b="0">
                          <a:solidFill>
                            <a:srgbClr val="1E293B"/>
                          </a:solidFill>
                          <a:latin typeface="Calibri"/>
                        </a:rPr>
                        <a:t>7.249</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1D6"/>
                    </a:solidFill>
                  </a:tcPr>
                </a:tc>
                <a:tc>
                  <a:txBody>
                    <a:bodyPr/>
                    <a:lstStyle/>
                    <a:p>
                      <a:pPr algn="ctr"/>
                      <a:r>
                        <a:rPr sz="1250" b="0">
                          <a:solidFill>
                            <a:srgbClr val="1E293B"/>
                          </a:solidFill>
                          <a:latin typeface="Calibri"/>
                        </a:rPr>
                        <a:t>8.539</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1D6"/>
                    </a:solidFill>
                  </a:tcPr>
                </a:tc>
                <a:tc>
                  <a:txBody>
                    <a:bodyPr/>
                    <a:lstStyle/>
                    <a:p>
                      <a:pPr algn="ctr"/>
                      <a:r>
                        <a:rPr sz="1250" b="0">
                          <a:solidFill>
                            <a:srgbClr val="1E293B"/>
                          </a:solidFill>
                          <a:latin typeface="Calibri"/>
                        </a:rPr>
                        <a:t>0.994</a:t>
                      </a:r>
                    </a:p>
                  </a:txBody>
                  <a:tcPr marL="91450" marR="91450" marT="45725" marB="45725" anchor="ctr">
                    <a:lnL w="9525" cap="flat" cmpd="sng">
                      <a:solidFill>
                        <a:srgbClr val="D9E0EA"/>
                      </a:solidFill>
                      <a:prstDash val="solid"/>
                      <a:round/>
                      <a:headEnd type="none" w="sm" len="sm"/>
                      <a:tailEnd type="none" w="sm" len="sm"/>
                    </a:lnL>
                    <a:lnR w="9525" cap="flat" cmpd="sng">
                      <a:solidFill>
                        <a:srgbClr val="D9E0EA"/>
                      </a:solidFill>
                      <a:prstDash val="solid"/>
                      <a:round/>
                      <a:headEnd type="none" w="sm" len="sm"/>
                      <a:tailEnd type="none" w="sm" len="sm"/>
                    </a:lnR>
                    <a:lnT w="9525" cap="flat" cmpd="sng">
                      <a:solidFill>
                        <a:srgbClr val="D9E0EA"/>
                      </a:solidFill>
                      <a:prstDash val="solid"/>
                      <a:round/>
                      <a:headEnd type="none" w="sm" len="sm"/>
                      <a:tailEnd type="none" w="sm" len="sm"/>
                    </a:lnT>
                    <a:lnB w="9525" cap="flat" cmpd="sng">
                      <a:solidFill>
                        <a:srgbClr val="D9E0EA"/>
                      </a:solidFill>
                      <a:prstDash val="solid"/>
                      <a:round/>
                      <a:headEnd type="none" w="sm" len="sm"/>
                      <a:tailEnd type="none" w="sm" len="sm"/>
                    </a:lnB>
                    <a:solidFill>
                      <a:srgbClr val="FFF1D6"/>
                    </a:solidFill>
                  </a:tcPr>
                </a:tc>
                <a:extLst>
                  <a:ext uri="{0D108BD9-81ED-4DB2-BD59-A6C34878D82A}">
                    <a16:rowId xmlns:a16="http://schemas.microsoft.com/office/drawing/2014/main" val="10003"/>
                  </a:ext>
                </a:extLst>
              </a:tr>
            </a:tbl>
          </a:graphicData>
        </a:graphic>
      </p:graphicFrame>
      <p:sp>
        <p:nvSpPr>
          <p:cNvPr id="305" name="Google Shape;305;p11"/>
          <p:cNvSpPr/>
          <p:nvPr/>
        </p:nvSpPr>
        <p:spPr>
          <a:xfrm>
            <a:off x="7315200" y="3657600"/>
            <a:ext cx="4297680" cy="2011680"/>
          </a:xfrm>
          <a:prstGeom prst="roundRect">
            <a:avLst>
              <a:gd name="adj" fmla="val 5455"/>
            </a:avLst>
          </a:prstGeom>
          <a:solidFill>
            <a:srgbClr val="14213D"/>
          </a:solidFill>
          <a:ln w="12700" cap="flat" cmpd="sng">
            <a:solidFill>
              <a:srgbClr val="1421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txBox="1"/>
          <p:nvPr/>
        </p:nvSpPr>
        <p:spPr>
          <a:xfrm>
            <a:off x="7589520" y="3840480"/>
            <a:ext cx="3749040" cy="1737360"/>
          </a:xfrm>
          <a:prstGeom prst="rect">
            <a:avLst/>
          </a:prstGeom>
          <a:noFill/>
          <a:ln>
            <a:noFill/>
          </a:ln>
        </p:spPr>
        <p:txBody>
          <a:bodyPr spcFirstLastPara="1" wrap="square" lIns="0" tIns="0" rIns="0" bIns="0" anchor="t" anchorCtr="0">
            <a:noAutofit/>
          </a:bodyPr>
          <a:lstStyle/>
          <a:p>
            <a:r>
              <a:rPr sz="1700" b="1">
                <a:solidFill>
                  <a:srgbClr val="FCA311"/>
                </a:solidFill>
                <a:latin typeface="Calibri"/>
              </a:rPr>
              <a:t>Random Forest wins
</a:t>
            </a:r>
          </a:p>
          <a:p>
            <a:r>
              <a:rPr sz="1350">
                <a:solidFill>
                  <a:srgbClr val="FFFFFF"/>
                </a:solidFill>
                <a:latin typeface="Calibri"/>
              </a:rPr>
              <a:t>Lowest error (RMSE 8.539, MAE 7.249) and highest R² (0.994) on both the test set and 5-fold CV (MAE 7.268), making it the superior forecasting model.</a:t>
            </a:r>
          </a:p>
        </p:txBody>
      </p:sp>
      <p:sp>
        <p:nvSpPr>
          <p:cNvPr id="307" name="Google Shape;307;p11"/>
          <p:cNvSpPr txBox="1"/>
          <p:nvPr/>
        </p:nvSpPr>
        <p:spPr>
          <a:xfrm>
            <a:off x="548640" y="5852160"/>
            <a:ext cx="11064240" cy="274320"/>
          </a:xfrm>
          <a:prstGeom prst="rect">
            <a:avLst/>
          </a:prstGeom>
          <a:noFill/>
          <a:ln>
            <a:noFill/>
          </a:ln>
        </p:spPr>
        <p:txBody>
          <a:bodyPr spcFirstLastPara="1" wrap="square" lIns="0" tIns="0" rIns="0" bIns="0" anchor="t" anchorCtr="0">
            <a:noAutofit/>
          </a:bodyPr>
          <a:lstStyle/>
          <a:p>
            <a:pPr algn="l"/>
            <a:r>
              <a:rPr sz="1200" b="0">
                <a:solidFill>
                  <a:srgbClr val="475569"/>
                </a:solidFill>
                <a:latin typeface="Calibri"/>
              </a:rPr>
              <a:t>MAE and RMSE in units sold. Test set: 14,620 records (20%). Cross-validation: 5 folds on the training data.</a:t>
            </a:r>
          </a:p>
        </p:txBody>
      </p:sp>
      <p:sp>
        <p:nvSpPr>
          <p:cNvPr id="308" name="Google Shape;308;p11"/>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11</a:t>
            </a:fld>
            <a:endParaRPr sz="1000">
              <a:solidFill>
                <a:srgbClr val="64748B"/>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3"/>
        <p:cNvGrpSpPr/>
        <p:nvPr/>
      </p:nvGrpSpPr>
      <p:grpSpPr>
        <a:xfrm>
          <a:off x="0" y="0"/>
          <a:ext cx="0" cy="0"/>
          <a:chOff x="0" y="0"/>
          <a:chExt cx="0" cy="0"/>
        </a:xfrm>
      </p:grpSpPr>
      <p:sp>
        <p:nvSpPr>
          <p:cNvPr id="314" name="Google Shape;314;p12"/>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315" name="Google Shape;315;p12"/>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Interpreting the Results</a:t>
            </a:r>
            <a:endParaRPr sz="3400">
              <a:solidFill>
                <a:schemeClr val="dk1"/>
              </a:solidFill>
              <a:latin typeface="Calibri"/>
              <a:ea typeface="Calibri"/>
              <a:cs typeface="Calibri"/>
              <a:sym typeface="Calibri"/>
            </a:endParaRPr>
          </a:p>
        </p:txBody>
      </p:sp>
      <p:sp>
        <p:nvSpPr>
          <p:cNvPr id="316" name="Google Shape;316;p12"/>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graphicFrame>
        <p:nvGraphicFramePr>
          <p:cNvPr id="317" name="Google Shape;317;p12"/>
          <p:cNvGraphicFramePr/>
          <p:nvPr/>
        </p:nvGraphicFramePr>
        <p:xfrm>
          <a:off x="548640" y="1325880"/>
          <a:ext cx="658368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318" name="Google Shape;318;p12"/>
          <p:cNvSpPr/>
          <p:nvPr/>
        </p:nvSpPr>
        <p:spPr>
          <a:xfrm>
            <a:off x="7406640" y="1371600"/>
            <a:ext cx="4206240" cy="3383280"/>
          </a:xfrm>
          <a:prstGeom prst="roundRect">
            <a:avLst>
              <a:gd name="adj" fmla="val 3243"/>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2"/>
          <p:cNvSpPr/>
          <p:nvPr/>
        </p:nvSpPr>
        <p:spPr>
          <a:xfrm>
            <a:off x="548640" y="4937760"/>
            <a:ext cx="356616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2"/>
          <p:cNvSpPr txBox="1"/>
          <p:nvPr/>
        </p:nvSpPr>
        <p:spPr>
          <a:xfrm>
            <a:off x="731520" y="5029200"/>
            <a:ext cx="3200400" cy="1280160"/>
          </a:xfrm>
          <a:prstGeom prst="rect">
            <a:avLst/>
          </a:prstGeom>
          <a:noFill/>
          <a:ln>
            <a:noFill/>
          </a:ln>
        </p:spPr>
        <p:txBody>
          <a:bodyPr spcFirstLastPara="1" wrap="square" lIns="0" tIns="0" rIns="0" bIns="0" anchor="t" anchorCtr="0">
            <a:noAutofit/>
          </a:bodyPr>
          <a:lstStyle/>
          <a:p>
            <a:pPr algn="l"/>
            <a:r>
              <a:rPr sz="1200" b="0">
                <a:solidFill>
                  <a:srgbClr val="1E293B"/>
                </a:solidFill>
                <a:latin typeface="Calibri"/>
              </a:rPr>
              <a:t>Overfitting Check</a:t>
            </a:r>
          </a:p>
          <a:p>
            <a:pPr algn="l"/>
            <a:r>
              <a:rPr sz="1200" b="0">
                <a:solidFill>
                  <a:srgbClr val="1E293B"/>
                </a:solidFill>
                <a:latin typeface="Calibri"/>
              </a:rPr>
              <a:t>Train R² 0.996 vs test R² 0.994: negligible generalization gap confirms the model is learning true demand signals.</a:t>
            </a:r>
          </a:p>
        </p:txBody>
      </p:sp>
      <p:sp>
        <p:nvSpPr>
          <p:cNvPr id="322" name="Google Shape;322;p12"/>
          <p:cNvSpPr/>
          <p:nvPr/>
        </p:nvSpPr>
        <p:spPr>
          <a:xfrm>
            <a:off x="4297680" y="4937760"/>
            <a:ext cx="356616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2"/>
          <p:cNvSpPr txBox="1"/>
          <p:nvPr/>
        </p:nvSpPr>
        <p:spPr>
          <a:xfrm>
            <a:off x="4480560" y="5029200"/>
            <a:ext cx="3200400" cy="1280160"/>
          </a:xfrm>
          <a:prstGeom prst="rect">
            <a:avLst/>
          </a:prstGeom>
          <a:noFill/>
          <a:ln>
            <a:noFill/>
          </a:ln>
        </p:spPr>
        <p:txBody>
          <a:bodyPr spcFirstLastPara="1" wrap="square" lIns="0" tIns="0" rIns="0" bIns="0" anchor="t" anchorCtr="0">
            <a:noAutofit/>
          </a:bodyPr>
          <a:lstStyle/>
          <a:p>
            <a:pPr algn="l"/>
            <a:r>
              <a:rPr sz="1200" b="0">
                <a:solidFill>
                  <a:srgbClr val="1E293B"/>
                </a:solidFill>
                <a:latin typeface="Calibri"/>
              </a:rPr>
              <a:t>Business Sense</a:t>
            </a:r>
          </a:p>
          <a:p>
            <a:pPr algn="l"/>
            <a:r>
              <a:rPr sz="1200" b="0">
                <a:solidFill>
                  <a:srgbClr val="1E293B"/>
                </a:solidFill>
                <a:latin typeface="Calibri"/>
              </a:rPr>
              <a:t>Demand Forecast overwhelmingly governs sales (~99.5%), aligning with retail supply chain ordering realities.</a:t>
            </a:r>
          </a:p>
        </p:txBody>
      </p:sp>
      <p:sp>
        <p:nvSpPr>
          <p:cNvPr id="324" name="Google Shape;324;p12"/>
          <p:cNvSpPr/>
          <p:nvPr/>
        </p:nvSpPr>
        <p:spPr>
          <a:xfrm>
            <a:off x="8046720" y="4937760"/>
            <a:ext cx="3566160" cy="1417320"/>
          </a:xfrm>
          <a:prstGeom prst="roundRect">
            <a:avLst>
              <a:gd name="adj" fmla="val 7742"/>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2"/>
          <p:cNvSpPr txBox="1"/>
          <p:nvPr/>
        </p:nvSpPr>
        <p:spPr>
          <a:xfrm>
            <a:off x="8229600" y="5029200"/>
            <a:ext cx="3200400" cy="1280160"/>
          </a:xfrm>
          <a:prstGeom prst="rect">
            <a:avLst/>
          </a:prstGeom>
          <a:noFill/>
          <a:ln>
            <a:noFill/>
          </a:ln>
        </p:spPr>
        <p:txBody>
          <a:bodyPr spcFirstLastPara="1" wrap="square" lIns="0" tIns="0" rIns="0" bIns="0" anchor="t" anchorCtr="0">
            <a:noAutofit/>
          </a:bodyPr>
          <a:lstStyle/>
          <a:p>
            <a:pPr algn="l"/>
            <a:r>
              <a:rPr sz="1200" b="0">
                <a:solidFill>
                  <a:srgbClr val="1E293B"/>
                </a:solidFill>
                <a:latin typeface="Calibri"/>
              </a:rPr>
              <a:t>Residual Stability</a:t>
            </a:r>
          </a:p>
          <a:p>
            <a:pPr algn="l"/>
            <a:r>
              <a:rPr sz="1200" b="0">
                <a:solidFill>
                  <a:srgbClr val="1E293B"/>
                </a:solidFill>
                <a:latin typeface="Calibri"/>
              </a:rPr>
              <a:t>Minor residual spikes occur only during sudden seasonal promotional shifts or extreme holiday discount days.</a:t>
            </a:r>
          </a:p>
        </p:txBody>
      </p:sp>
      <p:sp>
        <p:nvSpPr>
          <p:cNvPr id="326" name="Google Shape;326;p12"/>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12</a:t>
            </a:fld>
            <a:endParaRPr sz="1000">
              <a:solidFill>
                <a:srgbClr val="64748B"/>
              </a:solidFill>
              <a:latin typeface="Calibri"/>
              <a:ea typeface="Calibri"/>
              <a:cs typeface="Calibri"/>
              <a:sym typeface="Calibri"/>
            </a:endParaRPr>
          </a:p>
        </p:txBody>
      </p:sp>
      <p:pic>
        <p:nvPicPr>
          <p:cNvPr id="327" name="Picture 326" descr="cell_31_out_0.png"/>
          <p:cNvPicPr>
            <a:picLocks noChangeAspect="1"/>
          </p:cNvPicPr>
          <p:nvPr/>
        </p:nvPicPr>
        <p:blipFill>
          <a:blip r:embed="rId4"/>
          <a:stretch>
            <a:fillRect/>
          </a:stretch>
        </p:blipFill>
        <p:spPr>
          <a:xfrm>
            <a:off x="7529113" y="1463040"/>
            <a:ext cx="3961294" cy="320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Shape 331"/>
        <p:cNvGrpSpPr/>
        <p:nvPr/>
      </p:nvGrpSpPr>
      <p:grpSpPr>
        <a:xfrm>
          <a:off x="0" y="0"/>
          <a:ext cx="0" cy="0"/>
          <a:chOff x="0" y="0"/>
          <a:chExt cx="0" cy="0"/>
        </a:xfrm>
      </p:grpSpPr>
      <p:sp>
        <p:nvSpPr>
          <p:cNvPr id="332" name="Google Shape;332;p13"/>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400"/>
              <a:buFont typeface="Cambria"/>
              <a:buNone/>
            </a:pPr>
            <a:r>
              <a:rPr lang="en-US" sz="3400" b="1">
                <a:solidFill>
                  <a:srgbClr val="FFFFFF"/>
                </a:solidFill>
                <a:latin typeface="Cambria"/>
                <a:ea typeface="Cambria"/>
                <a:cs typeface="Cambria"/>
                <a:sym typeface="Cambria"/>
              </a:rPr>
              <a:t>Conclusion and Future Work</a:t>
            </a:r>
            <a:endParaRPr sz="3400">
              <a:solidFill>
                <a:schemeClr val="dk1"/>
              </a:solidFill>
              <a:latin typeface="Calibri"/>
              <a:ea typeface="Calibri"/>
              <a:cs typeface="Calibri"/>
              <a:sym typeface="Calibri"/>
            </a:endParaRPr>
          </a:p>
        </p:txBody>
      </p:sp>
      <p:sp>
        <p:nvSpPr>
          <p:cNvPr id="333" name="Google Shape;333;p13"/>
          <p:cNvSpPr/>
          <p:nvPr/>
        </p:nvSpPr>
        <p:spPr>
          <a:xfrm>
            <a:off x="548640" y="1463040"/>
            <a:ext cx="5394960" cy="4206240"/>
          </a:xfrm>
          <a:prstGeom prst="roundRect">
            <a:avLst>
              <a:gd name="adj" fmla="val 2609"/>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3"/>
          <p:cNvSpPr txBox="1"/>
          <p:nvPr/>
        </p:nvSpPr>
        <p:spPr>
          <a:xfrm>
            <a:off x="822960" y="1691640"/>
            <a:ext cx="484632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2200"/>
              <a:buFont typeface="Cambria"/>
              <a:buNone/>
            </a:pPr>
            <a:r>
              <a:rPr lang="en-US" sz="2200" b="1">
                <a:solidFill>
                  <a:srgbClr val="FCA311"/>
                </a:solidFill>
                <a:latin typeface="Cambria"/>
                <a:ea typeface="Cambria"/>
                <a:cs typeface="Cambria"/>
                <a:sym typeface="Cambria"/>
              </a:rPr>
              <a:t>Conclusion</a:t>
            </a:r>
            <a:endParaRPr sz="2200">
              <a:solidFill>
                <a:schemeClr val="dk1"/>
              </a:solidFill>
              <a:latin typeface="Calibri"/>
              <a:ea typeface="Calibri"/>
              <a:cs typeface="Calibri"/>
              <a:sym typeface="Calibri"/>
            </a:endParaRPr>
          </a:p>
        </p:txBody>
      </p:sp>
      <p:sp>
        <p:nvSpPr>
          <p:cNvPr id="335" name="Google Shape;335;p13"/>
          <p:cNvSpPr txBox="1"/>
          <p:nvPr/>
        </p:nvSpPr>
        <p:spPr>
          <a:xfrm>
            <a:off x="822960" y="2286000"/>
            <a:ext cx="4846320" cy="3291840"/>
          </a:xfrm>
          <a:prstGeom prst="rect">
            <a:avLst/>
          </a:prstGeom>
          <a:noFill/>
          <a:ln>
            <a:noFill/>
          </a:ln>
        </p:spPr>
        <p:txBody>
          <a:bodyPr spcFirstLastPara="1" wrap="square" lIns="0" tIns="0" rIns="0" bIns="0" anchor="t" anchorCtr="0">
            <a:noAutofit/>
          </a:bodyPr>
          <a:lstStyle/>
          <a:p>
            <a:pPr>
              <a:spcAft>
                <a:spcPts val="1200"/>
              </a:spcAft>
            </a:pPr>
            <a:r>
              <a:rPr sz="1500">
                <a:solidFill>
                  <a:srgbClr val="CBD5E1"/>
                </a:solidFill>
                <a:latin typeface="Calibri"/>
              </a:rPr>
              <a:t>• Random Forest was the best model: R² 0.994 and MAE of 7.25 units on 14,620 unseen sales (CV MAE 7.268)</a:t>
            </a:r>
          </a:p>
          <a:p>
            <a:pPr>
              <a:spcAft>
                <a:spcPts val="1200"/>
              </a:spcAft>
            </a:pPr>
            <a:r>
              <a:rPr sz="1500">
                <a:solidFill>
                  <a:srgbClr val="CBD5E1"/>
                </a:solidFill>
                <a:latin typeface="Calibri"/>
              </a:rPr>
              <a:t>• Demand Forecast, Inventory Level, and Units Ordered drive sales demand most significantly</a:t>
            </a:r>
          </a:p>
          <a:p>
            <a:pPr>
              <a:spcAft>
                <a:spcPts val="1200"/>
              </a:spcAft>
            </a:pPr>
            <a:r>
              <a:rPr sz="1500">
                <a:solidFill>
                  <a:srgbClr val="CBD5E1"/>
                </a:solidFill>
                <a:latin typeface="Calibri"/>
              </a:rPr>
              <a:t>• The complete data science lifecycle was executed: audit, cleaning, EDA, 3 models, cross-validation and evaluation</a:t>
            </a:r>
          </a:p>
        </p:txBody>
      </p:sp>
      <p:sp>
        <p:nvSpPr>
          <p:cNvPr id="336" name="Google Shape;336;p13"/>
          <p:cNvSpPr/>
          <p:nvPr/>
        </p:nvSpPr>
        <p:spPr>
          <a:xfrm>
            <a:off x="6217920" y="1463040"/>
            <a:ext cx="5394960" cy="4206240"/>
          </a:xfrm>
          <a:prstGeom prst="roundRect">
            <a:avLst>
              <a:gd name="adj" fmla="val 2609"/>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3"/>
          <p:cNvSpPr txBox="1"/>
          <p:nvPr/>
        </p:nvSpPr>
        <p:spPr>
          <a:xfrm>
            <a:off x="6492240" y="1691640"/>
            <a:ext cx="484632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CA311"/>
              </a:buClr>
              <a:buSzPts val="2200"/>
              <a:buFont typeface="Cambria"/>
              <a:buNone/>
            </a:pPr>
            <a:r>
              <a:rPr lang="en-US" sz="2200" b="1">
                <a:solidFill>
                  <a:srgbClr val="FCA311"/>
                </a:solidFill>
                <a:latin typeface="Cambria"/>
                <a:ea typeface="Cambria"/>
                <a:cs typeface="Cambria"/>
                <a:sym typeface="Cambria"/>
              </a:rPr>
              <a:t>Future work</a:t>
            </a:r>
            <a:endParaRPr sz="2200">
              <a:solidFill>
                <a:schemeClr val="dk1"/>
              </a:solidFill>
              <a:latin typeface="Calibri"/>
              <a:ea typeface="Calibri"/>
              <a:cs typeface="Calibri"/>
              <a:sym typeface="Calibri"/>
            </a:endParaRPr>
          </a:p>
        </p:txBody>
      </p:sp>
      <p:sp>
        <p:nvSpPr>
          <p:cNvPr id="338" name="Google Shape;338;p13"/>
          <p:cNvSpPr txBox="1"/>
          <p:nvPr/>
        </p:nvSpPr>
        <p:spPr>
          <a:xfrm>
            <a:off x="6492240" y="2286000"/>
            <a:ext cx="4846320" cy="3291840"/>
          </a:xfrm>
          <a:prstGeom prst="rect">
            <a:avLst/>
          </a:prstGeom>
          <a:noFill/>
          <a:ln>
            <a:noFill/>
          </a:ln>
        </p:spPr>
        <p:txBody>
          <a:bodyPr spcFirstLastPara="1" wrap="square" lIns="0" tIns="0" rIns="0" bIns="0" anchor="t" anchorCtr="0">
            <a:noAutofit/>
          </a:bodyPr>
          <a:lstStyle/>
          <a:p>
            <a:pPr>
              <a:spcAft>
                <a:spcPts val="1200"/>
              </a:spcAft>
            </a:pPr>
            <a:r>
              <a:rPr sz="1500">
                <a:solidFill>
                  <a:srgbClr val="CBD5E1"/>
                </a:solidFill>
                <a:latin typeface="Calibri"/>
              </a:rPr>
              <a:t>• Implement advanced sequential time-series models (ARIMA, Prophet, LSTM) for multi-week demand forecasts</a:t>
            </a:r>
          </a:p>
          <a:p>
            <a:pPr>
              <a:spcAft>
                <a:spcPts val="1200"/>
              </a:spcAft>
            </a:pPr>
            <a:r>
              <a:rPr sz="1500">
                <a:solidFill>
                  <a:srgbClr val="CBD5E1"/>
                </a:solidFill>
                <a:latin typeface="Calibri"/>
              </a:rPr>
              <a:t>• Build an interactive Streamlit inventory replenishment dashboard for retail store managers</a:t>
            </a:r>
          </a:p>
          <a:p>
            <a:pPr>
              <a:spcAft>
                <a:spcPts val="1200"/>
              </a:spcAft>
            </a:pPr>
            <a:r>
              <a:rPr sz="1500">
                <a:solidFill>
                  <a:srgbClr val="CBD5E1"/>
                </a:solidFill>
                <a:latin typeface="Calibri"/>
              </a:rPr>
              <a:t>• Incorporate external supplier lead times and warehouse transit constraints into inventory safety buffers</a:t>
            </a:r>
          </a:p>
          <a:p>
            <a:pPr>
              <a:spcAft>
                <a:spcPts val="1200"/>
              </a:spcAft>
            </a:pPr>
            <a:r>
              <a:rPr sz="1500">
                <a:solidFill>
                  <a:srgbClr val="CBD5E1"/>
                </a:solidFill>
                <a:latin typeface="Calibri"/>
              </a:rPr>
              <a:t>• Explore price elasticity modeling to dynamically optimize promotional discounts and margin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3"/>
        <p:cNvGrpSpPr/>
        <p:nvPr/>
      </p:nvGrpSpPr>
      <p:grpSpPr>
        <a:xfrm>
          <a:off x="0" y="0"/>
          <a:ext cx="0" cy="0"/>
          <a:chOff x="0" y="0"/>
          <a:chExt cx="0" cy="0"/>
        </a:xfrm>
      </p:grpSpPr>
      <p:sp>
        <p:nvSpPr>
          <p:cNvPr id="344" name="Google Shape;344;p14"/>
          <p:cNvSpPr txBox="1"/>
          <p:nvPr/>
        </p:nvSpPr>
        <p:spPr>
          <a:xfrm>
            <a:off x="548640" y="2743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400"/>
              </a:buClr>
              <a:buSzPts val="1200"/>
              <a:buFont typeface="Calibri"/>
              <a:buNone/>
            </a:pPr>
            <a:r>
              <a:rPr lang="en-US" sz="1200" b="1">
                <a:solidFill>
                  <a:srgbClr val="A86400"/>
                </a:solidFill>
                <a:latin typeface="Calibri"/>
                <a:ea typeface="Calibri"/>
                <a:cs typeface="Calibri"/>
                <a:sym typeface="Calibri"/>
              </a:rPr>
              <a:t>PROJECT</a:t>
            </a:r>
            <a:endParaRPr sz="1200">
              <a:solidFill>
                <a:schemeClr val="dk1"/>
              </a:solidFill>
              <a:latin typeface="Calibri"/>
              <a:ea typeface="Calibri"/>
              <a:cs typeface="Calibri"/>
              <a:sym typeface="Calibri"/>
            </a:endParaRPr>
          </a:p>
        </p:txBody>
      </p:sp>
      <p:sp>
        <p:nvSpPr>
          <p:cNvPr id="345" name="Google Shape;345;p14"/>
          <p:cNvSpPr txBox="1"/>
          <p:nvPr/>
        </p:nvSpPr>
        <p:spPr>
          <a:xfrm>
            <a:off x="548640" y="54864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213D"/>
              </a:buClr>
              <a:buSzPts val="3400"/>
              <a:buFont typeface="Cambria"/>
              <a:buNone/>
            </a:pPr>
            <a:r>
              <a:rPr lang="en-US" sz="3400" b="1">
                <a:solidFill>
                  <a:srgbClr val="14213D"/>
                </a:solidFill>
                <a:latin typeface="Cambria"/>
                <a:ea typeface="Cambria"/>
                <a:cs typeface="Cambria"/>
                <a:sym typeface="Cambria"/>
              </a:rPr>
              <a:t>References</a:t>
            </a:r>
            <a:endParaRPr sz="3400">
              <a:solidFill>
                <a:schemeClr val="dk1"/>
              </a:solidFill>
              <a:latin typeface="Calibri"/>
              <a:ea typeface="Calibri"/>
              <a:cs typeface="Calibri"/>
              <a:sym typeface="Calibri"/>
            </a:endParaRPr>
          </a:p>
        </p:txBody>
      </p:sp>
      <p:sp>
        <p:nvSpPr>
          <p:cNvPr id="346" name="Google Shape;346;p14"/>
          <p:cNvSpPr txBox="1"/>
          <p:nvPr/>
        </p:nvSpPr>
        <p:spPr>
          <a:xfrm>
            <a:off x="548640" y="64465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342IT · Intelligent Retail Sales and Inventory Forecasting</a:t>
            </a:r>
            <a:endParaRPr sz="1000">
              <a:solidFill>
                <a:schemeClr val="dk1"/>
              </a:solidFill>
              <a:latin typeface="Calibri"/>
              <a:ea typeface="Calibri"/>
              <a:cs typeface="Calibri"/>
              <a:sym typeface="Calibri"/>
            </a:endParaRPr>
          </a:p>
        </p:txBody>
      </p:sp>
      <p:sp>
        <p:nvSpPr>
          <p:cNvPr id="347" name="Google Shape;347;p14"/>
          <p:cNvSpPr/>
          <p:nvPr/>
        </p:nvSpPr>
        <p:spPr>
          <a:xfrm>
            <a:off x="548640" y="1371600"/>
            <a:ext cx="11064240" cy="3291840"/>
          </a:xfrm>
          <a:prstGeom prst="roundRect">
            <a:avLst>
              <a:gd name="adj" fmla="val 3333"/>
            </a:avLst>
          </a:prstGeom>
          <a:solidFill>
            <a:srgbClr val="F1F4F9"/>
          </a:solidFill>
          <a:ln w="12700" cap="flat" cmpd="sng">
            <a:solidFill>
              <a:srgbClr val="F1F4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txBox="1"/>
          <p:nvPr/>
        </p:nvSpPr>
        <p:spPr>
          <a:xfrm>
            <a:off x="914400" y="1691640"/>
            <a:ext cx="10332720" cy="2743200"/>
          </a:xfrm>
          <a:prstGeom prst="rect">
            <a:avLst/>
          </a:prstGeom>
          <a:noFill/>
          <a:ln>
            <a:noFill/>
          </a:ln>
        </p:spPr>
        <p:txBody>
          <a:bodyPr spcFirstLastPara="1" wrap="square" lIns="0" tIns="0" rIns="0" bIns="0" anchor="t" anchorCtr="0">
            <a:noAutofit/>
          </a:bodyPr>
          <a:lstStyle/>
          <a:p>
            <a:pPr>
              <a:spcAft>
                <a:spcPts val="1000"/>
              </a:spcAft>
            </a:pPr>
            <a:r>
              <a:rPr sz="1600">
                <a:solidFill>
                  <a:srgbClr val="1E293B"/>
                </a:solidFill>
                <a:latin typeface="Calibri"/>
              </a:rPr>
              <a:t>• Retail Store Inventory Forecasting Dataset, Kaggle (kaggle.com/anirudhchauhan)</a:t>
            </a:r>
          </a:p>
          <a:p>
            <a:pPr>
              <a:spcAft>
                <a:spcPts val="1000"/>
              </a:spcAft>
            </a:pPr>
            <a:r>
              <a:rPr sz="1600">
                <a:solidFill>
                  <a:srgbClr val="1E293B"/>
                </a:solidFill>
                <a:latin typeface="Calibri"/>
              </a:rPr>
              <a:t>• scikit-learn Machine Learning in Python Documentation (scikit-learn.org)</a:t>
            </a:r>
          </a:p>
          <a:p>
            <a:pPr>
              <a:spcAft>
                <a:spcPts val="1000"/>
              </a:spcAft>
            </a:pPr>
            <a:r>
              <a:rPr sz="1600">
                <a:solidFill>
                  <a:srgbClr val="1E293B"/>
                </a:solidFill>
                <a:latin typeface="Calibri"/>
              </a:rPr>
              <a:t>• pandas Data Analysis &amp; Manipulation Library (pandas.pydata.org)</a:t>
            </a:r>
          </a:p>
          <a:p>
            <a:pPr>
              <a:spcAft>
                <a:spcPts val="1000"/>
              </a:spcAft>
            </a:pPr>
            <a:r>
              <a:rPr sz="1600">
                <a:solidFill>
                  <a:srgbClr val="1E293B"/>
                </a:solidFill>
                <a:latin typeface="Calibri"/>
              </a:rPr>
              <a:t>• seaborn &amp; matplotlib Statistical Data Visualization (seaborn.pydata.org)</a:t>
            </a:r>
          </a:p>
          <a:p>
            <a:pPr>
              <a:spcAft>
                <a:spcPts val="1000"/>
              </a:spcAft>
            </a:pPr>
            <a:r>
              <a:rPr sz="1600">
                <a:solidFill>
                  <a:srgbClr val="1E293B"/>
                </a:solidFill>
                <a:latin typeface="Calibri"/>
              </a:rPr>
              <a:t>• 342IT Data Analytics and Data Science Mini Project Guideline, BVM Engineering College</a:t>
            </a:r>
          </a:p>
        </p:txBody>
      </p:sp>
      <p:sp>
        <p:nvSpPr>
          <p:cNvPr id="349" name="Google Shape;349;p14"/>
          <p:cNvSpPr txBox="1">
            <a:spLocks noGrp="1"/>
          </p:cNvSpPr>
          <p:nvPr>
            <p:ph type="sldNum" idx="4294967295"/>
          </p:nvPr>
        </p:nvSpPr>
        <p:spPr>
          <a:xfrm>
            <a:off x="11155680" y="644652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a:solidFill>
                  <a:srgbClr val="64748B"/>
                </a:solidFill>
                <a:latin typeface="Calibri"/>
                <a:ea typeface="Calibri"/>
                <a:cs typeface="Calibri"/>
                <a:sym typeface="Calibri"/>
              </a:rPr>
              <a:t>14</a:t>
            </a:fld>
            <a:endParaRPr sz="1000">
              <a:solidFill>
                <a:srgbClr val="64748B"/>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1648</Words>
  <Application>Microsoft Office PowerPoint</Application>
  <PresentationFormat>Widescreen</PresentationFormat>
  <Paragraphs>315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342IT Mini Project</dc:creator>
  <cp:lastModifiedBy>Kalp Shah</cp:lastModifiedBy>
  <cp:revision>2</cp:revision>
  <dcterms:created xsi:type="dcterms:W3CDTF">2026-10-15T12:29:10Z</dcterms:created>
  <dcterms:modified xsi:type="dcterms:W3CDTF">2026-10-22T08:30:14Z</dcterms:modified>
</cp:coreProperties>
</file>